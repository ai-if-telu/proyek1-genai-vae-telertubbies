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Helvetica Now Display Bold" charset="1" panose="020B0804030202020204"/>
      <p:regular r:id="rId32"/>
    </p:embeddedFont>
    <p:embeddedFont>
      <p:font typeface="Helvetica Now Display" charset="1" panose="020B0504030202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2" Target="../media/image15.png" Type="http://schemas.openxmlformats.org/officeDocument/2006/relationships/image"/><Relationship Id="rId3" Target="../media/image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8.png" Type="http://schemas.openxmlformats.org/officeDocument/2006/relationships/image"/><Relationship Id="rId4" Target="../media/image32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3.bin" Type="http://schemas.openxmlformats.org/officeDocument/2006/relationships/oleObjec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10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8.png" Type="http://schemas.openxmlformats.org/officeDocument/2006/relationships/image"/><Relationship Id="rId4" Target="../media/image48.png" Type="http://schemas.openxmlformats.org/officeDocument/2006/relationships/image"/><Relationship Id="rId5" Target="../embeddings/oleObject4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pn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7.png" Type="http://schemas.openxmlformats.org/officeDocument/2006/relationships/image"/><Relationship Id="rId4" Target="../media/image16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5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11" Target="../media/image65.png" Type="http://schemas.openxmlformats.org/officeDocument/2006/relationships/image"/><Relationship Id="rId12" Target="../media/image66.svg" Type="http://schemas.openxmlformats.org/officeDocument/2006/relationships/image"/><Relationship Id="rId13" Target="../media/image67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2" Target="../media/image69.png" Type="http://schemas.openxmlformats.org/officeDocument/2006/relationships/image"/><Relationship Id="rId3" Target="../media/image70.jpe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84790" y="-6422865"/>
            <a:ext cx="21823198" cy="15303518"/>
          </a:xfrm>
          <a:custGeom>
            <a:avLst/>
            <a:gdLst/>
            <a:ahLst/>
            <a:cxnLst/>
            <a:rect r="r" b="b" t="t" l="l"/>
            <a:pathLst>
              <a:path h="15303518" w="21823198">
                <a:moveTo>
                  <a:pt x="0" y="0"/>
                </a:moveTo>
                <a:lnTo>
                  <a:pt x="21823198" y="0"/>
                </a:lnTo>
                <a:lnTo>
                  <a:pt x="21823198" y="15303517"/>
                </a:lnTo>
                <a:lnTo>
                  <a:pt x="0" y="15303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4113" y="6287139"/>
            <a:ext cx="1000970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</a:t>
            </a:r>
            <a:r>
              <a:rPr lang="en-US" b="true" sz="35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ada Dataset MNIST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699604" y="-607170"/>
            <a:ext cx="12518465" cy="11501340"/>
          </a:xfrm>
          <a:custGeom>
            <a:avLst/>
            <a:gdLst/>
            <a:ahLst/>
            <a:cxnLst/>
            <a:rect r="r" b="b" t="t" l="l"/>
            <a:pathLst>
              <a:path h="11501340" w="12518465">
                <a:moveTo>
                  <a:pt x="0" y="0"/>
                </a:moveTo>
                <a:lnTo>
                  <a:pt x="12518465" y="0"/>
                </a:lnTo>
                <a:lnTo>
                  <a:pt x="12518465" y="11501340"/>
                </a:lnTo>
                <a:lnTo>
                  <a:pt x="0" y="11501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207329" y="0"/>
            <a:ext cx="6080671" cy="10287000"/>
            <a:chOff x="0" y="0"/>
            <a:chExt cx="160149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14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01494">
                  <a:moveTo>
                    <a:pt x="0" y="0"/>
                  </a:moveTo>
                  <a:lnTo>
                    <a:pt x="1601494" y="0"/>
                  </a:lnTo>
                  <a:lnTo>
                    <a:pt x="160149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1F1F1">
                    <a:alpha val="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0149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54113" y="7322670"/>
            <a:ext cx="2434780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54113" y="467949"/>
            <a:ext cx="3036188" cy="760945"/>
          </a:xfrm>
          <a:custGeom>
            <a:avLst/>
            <a:gdLst/>
            <a:ahLst/>
            <a:cxnLst/>
            <a:rect r="r" b="b" t="t" l="l"/>
            <a:pathLst>
              <a:path h="760945" w="3036188">
                <a:moveTo>
                  <a:pt x="0" y="0"/>
                </a:moveTo>
                <a:lnTo>
                  <a:pt x="3036188" y="0"/>
                </a:lnTo>
                <a:lnTo>
                  <a:pt x="3036188" y="760944"/>
                </a:lnTo>
                <a:lnTo>
                  <a:pt x="0" y="760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4113" y="3147879"/>
            <a:ext cx="8670904" cy="27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3"/>
              </a:lnSpc>
            </a:pPr>
            <a:r>
              <a:rPr lang="en-US" sz="10783" spc="-431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Var</a:t>
            </a:r>
            <a:r>
              <a:rPr lang="en-US" b="true" sz="10783" spc="-431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iational Autoencoder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4113" y="8653957"/>
            <a:ext cx="365373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Kelompok Telertubbies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243757">
            <a:off x="9547852" y="-3007142"/>
            <a:ext cx="16368992" cy="11683368"/>
          </a:xfrm>
          <a:custGeom>
            <a:avLst/>
            <a:gdLst/>
            <a:ahLst/>
            <a:cxnLst/>
            <a:rect r="r" b="b" t="t" l="l"/>
            <a:pathLst>
              <a:path h="11683368" w="16368992">
                <a:moveTo>
                  <a:pt x="16368992" y="0"/>
                </a:moveTo>
                <a:lnTo>
                  <a:pt x="0" y="0"/>
                </a:lnTo>
                <a:lnTo>
                  <a:pt x="0" y="11683368"/>
                </a:lnTo>
                <a:lnTo>
                  <a:pt x="16368992" y="11683368"/>
                </a:lnTo>
                <a:lnTo>
                  <a:pt x="16368992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276422">
            <a:off x="-2741532" y="1345684"/>
            <a:ext cx="17958148" cy="12817628"/>
          </a:xfrm>
          <a:custGeom>
            <a:avLst/>
            <a:gdLst/>
            <a:ahLst/>
            <a:cxnLst/>
            <a:rect r="r" b="b" t="t" l="l"/>
            <a:pathLst>
              <a:path h="12817628" w="17958148">
                <a:moveTo>
                  <a:pt x="17958148" y="0"/>
                </a:moveTo>
                <a:lnTo>
                  <a:pt x="0" y="0"/>
                </a:lnTo>
                <a:lnTo>
                  <a:pt x="0" y="12817628"/>
                </a:lnTo>
                <a:lnTo>
                  <a:pt x="17958148" y="12817628"/>
                </a:lnTo>
                <a:lnTo>
                  <a:pt x="17958148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980628"/>
            <a:ext cx="8360786" cy="8256905"/>
            <a:chOff x="0" y="0"/>
            <a:chExt cx="1324398" cy="1307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4397" cy="1307943"/>
            </a:xfrm>
            <a:custGeom>
              <a:avLst/>
              <a:gdLst/>
              <a:ahLst/>
              <a:cxnLst/>
              <a:rect r="r" b="b" t="t" l="l"/>
              <a:pathLst>
                <a:path h="1307943" w="1324397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185242"/>
                  </a:lnTo>
                  <a:cubicBezTo>
                    <a:pt x="1" y="1253008"/>
                    <a:pt x="54936" y="1307943"/>
                    <a:pt x="122702" y="1307943"/>
                  </a:cubicBezTo>
                  <a:lnTo>
                    <a:pt x="1201694" y="1307943"/>
                  </a:lnTo>
                  <a:cubicBezTo>
                    <a:pt x="1269460" y="1307943"/>
                    <a:pt x="1324396" y="1253008"/>
                    <a:pt x="1324397" y="1185242"/>
                  </a:cubicBezTo>
                  <a:lnTo>
                    <a:pt x="1324397" y="122701"/>
                  </a:lnTo>
                  <a:cubicBezTo>
                    <a:pt x="1324396" y="54935"/>
                    <a:pt x="1269461" y="1"/>
                    <a:pt x="1201696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4"/>
              <a:stretch>
                <a:fillRect l="-24253" t="0" r="-24253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>
            <a:off x="10071672" y="2834542"/>
            <a:ext cx="1465813" cy="0"/>
          </a:xfrm>
          <a:prstGeom prst="line">
            <a:avLst/>
          </a:prstGeom>
          <a:ln cap="flat" w="3810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071672" y="3396517"/>
            <a:ext cx="6556370" cy="715034"/>
            <a:chOff x="0" y="0"/>
            <a:chExt cx="1726781" cy="1883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26780" cy="188322"/>
            </a:xfrm>
            <a:custGeom>
              <a:avLst/>
              <a:gdLst/>
              <a:ahLst/>
              <a:cxnLst/>
              <a:rect r="r" b="b" t="t" l="l"/>
              <a:pathLst>
                <a:path h="188322" w="1726780">
                  <a:moveTo>
                    <a:pt x="22436" y="0"/>
                  </a:moveTo>
                  <a:lnTo>
                    <a:pt x="1704345" y="0"/>
                  </a:lnTo>
                  <a:cubicBezTo>
                    <a:pt x="1716736" y="0"/>
                    <a:pt x="1726780" y="10045"/>
                    <a:pt x="1726780" y="22436"/>
                  </a:cubicBezTo>
                  <a:lnTo>
                    <a:pt x="1726780" y="165886"/>
                  </a:lnTo>
                  <a:cubicBezTo>
                    <a:pt x="1726780" y="178277"/>
                    <a:pt x="1716736" y="188322"/>
                    <a:pt x="1704345" y="188322"/>
                  </a:cubicBezTo>
                  <a:lnTo>
                    <a:pt x="22436" y="188322"/>
                  </a:lnTo>
                  <a:cubicBezTo>
                    <a:pt x="10045" y="188322"/>
                    <a:pt x="0" y="178277"/>
                    <a:pt x="0" y="165886"/>
                  </a:cubicBezTo>
                  <a:lnTo>
                    <a:pt x="0" y="22436"/>
                  </a:lnTo>
                  <a:cubicBezTo>
                    <a:pt x="0" y="10045"/>
                    <a:pt x="10045" y="0"/>
                    <a:pt x="224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26781" cy="22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071672" y="2120167"/>
            <a:ext cx="597901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ari mengenali data ke membuat data baru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1672" y="418653"/>
            <a:ext cx="7403959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Latar Belakang dan Tujuan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1672" y="3626315"/>
            <a:ext cx="6442827" cy="2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b="true" sz="21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Me</a:t>
            </a:r>
            <a:r>
              <a:rPr lang="en-US" b="true" sz="21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mbangun VAE dari nol dengan PyTorch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71672" y="4283001"/>
            <a:ext cx="6556370" cy="715034"/>
            <a:chOff x="0" y="0"/>
            <a:chExt cx="1726781" cy="1883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26780" cy="188322"/>
            </a:xfrm>
            <a:custGeom>
              <a:avLst/>
              <a:gdLst/>
              <a:ahLst/>
              <a:cxnLst/>
              <a:rect r="r" b="b" t="t" l="l"/>
              <a:pathLst>
                <a:path h="188322" w="1726780">
                  <a:moveTo>
                    <a:pt x="22436" y="0"/>
                  </a:moveTo>
                  <a:lnTo>
                    <a:pt x="1704345" y="0"/>
                  </a:lnTo>
                  <a:cubicBezTo>
                    <a:pt x="1716736" y="0"/>
                    <a:pt x="1726780" y="10045"/>
                    <a:pt x="1726780" y="22436"/>
                  </a:cubicBezTo>
                  <a:lnTo>
                    <a:pt x="1726780" y="165886"/>
                  </a:lnTo>
                  <a:cubicBezTo>
                    <a:pt x="1726780" y="178277"/>
                    <a:pt x="1716736" y="188322"/>
                    <a:pt x="1704345" y="188322"/>
                  </a:cubicBezTo>
                  <a:lnTo>
                    <a:pt x="22436" y="188322"/>
                  </a:lnTo>
                  <a:cubicBezTo>
                    <a:pt x="10045" y="188322"/>
                    <a:pt x="0" y="178277"/>
                    <a:pt x="0" y="165886"/>
                  </a:cubicBezTo>
                  <a:lnTo>
                    <a:pt x="0" y="22436"/>
                  </a:lnTo>
                  <a:cubicBezTo>
                    <a:pt x="0" y="10045"/>
                    <a:pt x="10045" y="0"/>
                    <a:pt x="224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26781" cy="22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71672" y="4512799"/>
            <a:ext cx="6442827" cy="2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b="true" sz="21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Me</a:t>
            </a:r>
            <a:r>
              <a:rPr lang="en-US" b="true" sz="21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mbandingkan baseline dengan hasil tuning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71672" y="5169484"/>
            <a:ext cx="6556370" cy="715034"/>
            <a:chOff x="0" y="0"/>
            <a:chExt cx="1726781" cy="1883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26780" cy="188322"/>
            </a:xfrm>
            <a:custGeom>
              <a:avLst/>
              <a:gdLst/>
              <a:ahLst/>
              <a:cxnLst/>
              <a:rect r="r" b="b" t="t" l="l"/>
              <a:pathLst>
                <a:path h="188322" w="1726780">
                  <a:moveTo>
                    <a:pt x="22436" y="0"/>
                  </a:moveTo>
                  <a:lnTo>
                    <a:pt x="1704345" y="0"/>
                  </a:lnTo>
                  <a:cubicBezTo>
                    <a:pt x="1716736" y="0"/>
                    <a:pt x="1726780" y="10045"/>
                    <a:pt x="1726780" y="22436"/>
                  </a:cubicBezTo>
                  <a:lnTo>
                    <a:pt x="1726780" y="165886"/>
                  </a:lnTo>
                  <a:cubicBezTo>
                    <a:pt x="1726780" y="178277"/>
                    <a:pt x="1716736" y="188322"/>
                    <a:pt x="1704345" y="188322"/>
                  </a:cubicBezTo>
                  <a:lnTo>
                    <a:pt x="22436" y="188322"/>
                  </a:lnTo>
                  <a:cubicBezTo>
                    <a:pt x="10045" y="188322"/>
                    <a:pt x="0" y="178277"/>
                    <a:pt x="0" y="165886"/>
                  </a:cubicBezTo>
                  <a:lnTo>
                    <a:pt x="0" y="22436"/>
                  </a:lnTo>
                  <a:cubicBezTo>
                    <a:pt x="0" y="10045"/>
                    <a:pt x="10045" y="0"/>
                    <a:pt x="224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26781" cy="22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071672" y="5399283"/>
            <a:ext cx="6659213" cy="2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b="true" sz="21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Me</a:t>
            </a:r>
            <a:r>
              <a:rPr lang="en-US" b="true" sz="21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ngevaluasi rekonstruksi dan generasi gambar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71672" y="6065493"/>
            <a:ext cx="6556370" cy="715034"/>
            <a:chOff x="0" y="0"/>
            <a:chExt cx="1726781" cy="1883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6780" cy="188322"/>
            </a:xfrm>
            <a:custGeom>
              <a:avLst/>
              <a:gdLst/>
              <a:ahLst/>
              <a:cxnLst/>
              <a:rect r="r" b="b" t="t" l="l"/>
              <a:pathLst>
                <a:path h="188322" w="1726780">
                  <a:moveTo>
                    <a:pt x="22436" y="0"/>
                  </a:moveTo>
                  <a:lnTo>
                    <a:pt x="1704345" y="0"/>
                  </a:lnTo>
                  <a:cubicBezTo>
                    <a:pt x="1716736" y="0"/>
                    <a:pt x="1726780" y="10045"/>
                    <a:pt x="1726780" y="22436"/>
                  </a:cubicBezTo>
                  <a:lnTo>
                    <a:pt x="1726780" y="165886"/>
                  </a:lnTo>
                  <a:cubicBezTo>
                    <a:pt x="1726780" y="178277"/>
                    <a:pt x="1716736" y="188322"/>
                    <a:pt x="1704345" y="188322"/>
                  </a:cubicBezTo>
                  <a:lnTo>
                    <a:pt x="22436" y="188322"/>
                  </a:lnTo>
                  <a:cubicBezTo>
                    <a:pt x="10045" y="188322"/>
                    <a:pt x="0" y="178277"/>
                    <a:pt x="0" y="165886"/>
                  </a:cubicBezTo>
                  <a:lnTo>
                    <a:pt x="0" y="22436"/>
                  </a:lnTo>
                  <a:cubicBezTo>
                    <a:pt x="0" y="10045"/>
                    <a:pt x="10045" y="0"/>
                    <a:pt x="224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26781" cy="22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071672" y="6295291"/>
            <a:ext cx="6442827" cy="2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b="true" sz="21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Me</a:t>
            </a:r>
            <a:r>
              <a:rPr lang="en-US" b="true" sz="21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ndokumentasikan proses kerja dengan LLM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7986241">
            <a:off x="-10883868" y="-5463591"/>
            <a:ext cx="19473180" cy="13898982"/>
          </a:xfrm>
          <a:custGeom>
            <a:avLst/>
            <a:gdLst/>
            <a:ahLst/>
            <a:cxnLst/>
            <a:rect r="r" b="b" t="t" l="l"/>
            <a:pathLst>
              <a:path h="13898982" w="19473180">
                <a:moveTo>
                  <a:pt x="19473179" y="0"/>
                </a:moveTo>
                <a:lnTo>
                  <a:pt x="0" y="0"/>
                </a:lnTo>
                <a:lnTo>
                  <a:pt x="0" y="13898982"/>
                </a:lnTo>
                <a:lnTo>
                  <a:pt x="19473179" y="13898982"/>
                </a:lnTo>
                <a:lnTo>
                  <a:pt x="19473179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63316">
            <a:off x="-4963857" y="4276117"/>
            <a:ext cx="7633157" cy="7661889"/>
          </a:xfrm>
          <a:custGeom>
            <a:avLst/>
            <a:gdLst/>
            <a:ahLst/>
            <a:cxnLst/>
            <a:rect r="r" b="b" t="t" l="l"/>
            <a:pathLst>
              <a:path h="7661889" w="7633157">
                <a:moveTo>
                  <a:pt x="0" y="0"/>
                </a:moveTo>
                <a:lnTo>
                  <a:pt x="7633157" y="0"/>
                </a:lnTo>
                <a:lnTo>
                  <a:pt x="7633157" y="7661889"/>
                </a:lnTo>
                <a:lnTo>
                  <a:pt x="0" y="7661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2094">
            <a:off x="5305020" y="4796101"/>
            <a:ext cx="16041107" cy="11449340"/>
          </a:xfrm>
          <a:custGeom>
            <a:avLst/>
            <a:gdLst/>
            <a:ahLst/>
            <a:cxnLst/>
            <a:rect r="r" b="b" t="t" l="l"/>
            <a:pathLst>
              <a:path h="11449340" w="16041107">
                <a:moveTo>
                  <a:pt x="0" y="0"/>
                </a:moveTo>
                <a:lnTo>
                  <a:pt x="16041107" y="0"/>
                </a:lnTo>
                <a:lnTo>
                  <a:pt x="16041107" y="11449339"/>
                </a:lnTo>
                <a:lnTo>
                  <a:pt x="0" y="11449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07498" y="5928414"/>
            <a:ext cx="5202037" cy="1520861"/>
            <a:chOff x="0" y="0"/>
            <a:chExt cx="6936049" cy="202781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927" y="66675"/>
              <a:ext cx="6913122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AUTOENCODER BIASA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93374"/>
              <a:ext cx="693604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S</a:t>
              </a: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etiap gambar dipetakan ke satu titik. Ruang laten berlubang-lubang, sehingga titik acak sering menghasilkan gambar yang tidak bermakna.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0427" y="1133475"/>
            <a:ext cx="7403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Konsep Dasar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4224" y="2274818"/>
            <a:ext cx="597901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ara kerja Variational Autoencoder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579900" y="5928414"/>
            <a:ext cx="5202037" cy="1520861"/>
            <a:chOff x="0" y="0"/>
            <a:chExt cx="6936049" cy="202781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22927" y="66675"/>
              <a:ext cx="6913122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VARIATIONAL AUTOENCODER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93374"/>
              <a:ext cx="693604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S</a:t>
              </a: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etiap gambar dipetakan ke sebuah distribusi. Ruang laten menjadi rapat dan teratur, sehingga titik acak dapat diubah menjadi gambar baru.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07812" y="3767588"/>
            <a:ext cx="14672376" cy="1073821"/>
            <a:chOff x="0" y="0"/>
            <a:chExt cx="19563169" cy="143176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12700"/>
              <a:ext cx="2413000" cy="1386840"/>
              <a:chOff x="0" y="0"/>
              <a:chExt cx="2413000" cy="13868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Gambar 28x28</a:t>
                </a:r>
              </a:p>
            </p:txBody>
          </p:sp>
        </p:grpSp>
        <p:sp>
          <p:nvSpPr>
            <p:cNvPr name="AutoShape 17" id="17"/>
            <p:cNvSpPr/>
            <p:nvPr/>
          </p:nvSpPr>
          <p:spPr>
            <a:xfrm>
              <a:off x="2595969" y="718820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8" id="18"/>
            <p:cNvGrpSpPr/>
            <p:nvPr/>
          </p:nvGrpSpPr>
          <p:grpSpPr>
            <a:xfrm rot="0">
              <a:off x="3434169" y="279872"/>
              <a:ext cx="2413000" cy="916940"/>
              <a:chOff x="0" y="0"/>
              <a:chExt cx="2413000" cy="91694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13000" cy="916940"/>
              </a:xfrm>
              <a:custGeom>
                <a:avLst/>
                <a:gdLst/>
                <a:ahLst/>
                <a:cxnLst/>
                <a:rect r="r" b="b" t="t" l="l"/>
                <a:pathLst>
                  <a:path h="9169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739140"/>
                    </a:lnTo>
                    <a:cubicBezTo>
                      <a:pt x="2413000" y="786296"/>
                      <a:pt x="2394268" y="831520"/>
                      <a:pt x="2360924" y="864864"/>
                    </a:cubicBezTo>
                    <a:cubicBezTo>
                      <a:pt x="2327580" y="898208"/>
                      <a:pt x="2282355" y="916940"/>
                      <a:pt x="2235200" y="916940"/>
                    </a:cubicBezTo>
                    <a:lnTo>
                      <a:pt x="177800" y="916940"/>
                    </a:lnTo>
                    <a:cubicBezTo>
                      <a:pt x="79604" y="916940"/>
                      <a:pt x="0" y="837336"/>
                      <a:pt x="0" y="7391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303030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413000" cy="9550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Encoder</a:t>
                </a:r>
              </a:p>
            </p:txBody>
          </p:sp>
        </p:grpSp>
        <p:sp>
          <p:nvSpPr>
            <p:cNvPr name="AutoShape 21" id="21"/>
            <p:cNvSpPr/>
            <p:nvPr/>
          </p:nvSpPr>
          <p:spPr>
            <a:xfrm>
              <a:off x="6024969" y="737072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6863169" y="44922"/>
              <a:ext cx="2413000" cy="1386840"/>
              <a:chOff x="0" y="0"/>
              <a:chExt cx="2413000" cy="13868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μ dan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log σ²</a:t>
                </a: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9453969" y="706120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13721169" y="279872"/>
              <a:ext cx="2413000" cy="916940"/>
              <a:chOff x="0" y="0"/>
              <a:chExt cx="2413000" cy="91694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413000" cy="916940"/>
              </a:xfrm>
              <a:custGeom>
                <a:avLst/>
                <a:gdLst/>
                <a:ahLst/>
                <a:cxnLst/>
                <a:rect r="r" b="b" t="t" l="l"/>
                <a:pathLst>
                  <a:path h="9169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739140"/>
                    </a:lnTo>
                    <a:cubicBezTo>
                      <a:pt x="2413000" y="786296"/>
                      <a:pt x="2394268" y="831520"/>
                      <a:pt x="2360924" y="864864"/>
                    </a:cubicBezTo>
                    <a:cubicBezTo>
                      <a:pt x="2327580" y="898208"/>
                      <a:pt x="2282355" y="916940"/>
                      <a:pt x="2235200" y="916940"/>
                    </a:cubicBezTo>
                    <a:lnTo>
                      <a:pt x="177800" y="916940"/>
                    </a:lnTo>
                    <a:cubicBezTo>
                      <a:pt x="79604" y="916940"/>
                      <a:pt x="0" y="837336"/>
                      <a:pt x="0" y="7391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303030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413000" cy="9550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Decoder</a:t>
                </a:r>
              </a:p>
            </p:txBody>
          </p:sp>
        </p:grpSp>
        <p:sp>
          <p:nvSpPr>
            <p:cNvPr name="AutoShape 29" id="29"/>
            <p:cNvSpPr/>
            <p:nvPr/>
          </p:nvSpPr>
          <p:spPr>
            <a:xfrm>
              <a:off x="16311969" y="693420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30" id="30"/>
            <p:cNvGrpSpPr/>
            <p:nvPr/>
          </p:nvGrpSpPr>
          <p:grpSpPr>
            <a:xfrm rot="0">
              <a:off x="17150169" y="0"/>
              <a:ext cx="2413000" cy="1386840"/>
              <a:chOff x="0" y="0"/>
              <a:chExt cx="2413000" cy="138684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Gambar rekonstruksi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0292169" y="260350"/>
              <a:ext cx="2413000" cy="916940"/>
              <a:chOff x="0" y="0"/>
              <a:chExt cx="2413000" cy="91694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413000" cy="916940"/>
              </a:xfrm>
              <a:custGeom>
                <a:avLst/>
                <a:gdLst/>
                <a:ahLst/>
                <a:cxnLst/>
                <a:rect r="r" b="b" t="t" l="l"/>
                <a:pathLst>
                  <a:path h="9169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739140"/>
                    </a:lnTo>
                    <a:cubicBezTo>
                      <a:pt x="2413000" y="786296"/>
                      <a:pt x="2394268" y="831520"/>
                      <a:pt x="2360924" y="864864"/>
                    </a:cubicBezTo>
                    <a:cubicBezTo>
                      <a:pt x="2327580" y="898208"/>
                      <a:pt x="2282355" y="916940"/>
                      <a:pt x="2235200" y="916940"/>
                    </a:cubicBezTo>
                    <a:lnTo>
                      <a:pt x="177800" y="916940"/>
                    </a:lnTo>
                    <a:cubicBezTo>
                      <a:pt x="79604" y="916940"/>
                      <a:pt x="0" y="837336"/>
                      <a:pt x="0" y="7391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2413000" cy="9550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z = μ + σ·ε</a:t>
                </a:r>
              </a:p>
            </p:txBody>
          </p:sp>
        </p:grpSp>
        <p:sp>
          <p:nvSpPr>
            <p:cNvPr name="AutoShape 36" id="36"/>
            <p:cNvSpPr/>
            <p:nvPr/>
          </p:nvSpPr>
          <p:spPr>
            <a:xfrm>
              <a:off x="12882969" y="693420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383" y="-9478493"/>
            <a:ext cx="11844765" cy="11889350"/>
          </a:xfrm>
          <a:custGeom>
            <a:avLst/>
            <a:gdLst/>
            <a:ahLst/>
            <a:cxnLst/>
            <a:rect r="r" b="b" t="t" l="l"/>
            <a:pathLst>
              <a:path h="11889350" w="11844765">
                <a:moveTo>
                  <a:pt x="0" y="0"/>
                </a:moveTo>
                <a:lnTo>
                  <a:pt x="11844766" y="0"/>
                </a:lnTo>
                <a:lnTo>
                  <a:pt x="11844766" y="11889350"/>
                </a:lnTo>
                <a:lnTo>
                  <a:pt x="0" y="11889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23160" y="-4165709"/>
            <a:ext cx="9393208" cy="7467600"/>
          </a:xfrm>
          <a:custGeom>
            <a:avLst/>
            <a:gdLst/>
            <a:ahLst/>
            <a:cxnLst/>
            <a:rect r="r" b="b" t="t" l="l"/>
            <a:pathLst>
              <a:path h="7467600" w="9393208">
                <a:moveTo>
                  <a:pt x="0" y="0"/>
                </a:moveTo>
                <a:lnTo>
                  <a:pt x="9393207" y="0"/>
                </a:lnTo>
                <a:lnTo>
                  <a:pt x="9393207" y="7467600"/>
                </a:lnTo>
                <a:lnTo>
                  <a:pt x="0" y="746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3168925" y="-11999156"/>
            <a:ext cx="14255043" cy="14308700"/>
          </a:xfrm>
          <a:custGeom>
            <a:avLst/>
            <a:gdLst/>
            <a:ahLst/>
            <a:cxnLst/>
            <a:rect r="r" b="b" t="t" l="l"/>
            <a:pathLst>
              <a:path h="14308700" w="14255043">
                <a:moveTo>
                  <a:pt x="0" y="0"/>
                </a:moveTo>
                <a:lnTo>
                  <a:pt x="14255043" y="0"/>
                </a:lnTo>
                <a:lnTo>
                  <a:pt x="14255043" y="14308701"/>
                </a:lnTo>
                <a:lnTo>
                  <a:pt x="0" y="14308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11302" y="6877881"/>
            <a:ext cx="7910703" cy="8229600"/>
          </a:xfrm>
          <a:custGeom>
            <a:avLst/>
            <a:gdLst/>
            <a:ahLst/>
            <a:cxnLst/>
            <a:rect r="r" b="b" t="t" l="l"/>
            <a:pathLst>
              <a:path h="8229600" w="7910703">
                <a:moveTo>
                  <a:pt x="0" y="0"/>
                </a:moveTo>
                <a:lnTo>
                  <a:pt x="7910703" y="0"/>
                </a:lnTo>
                <a:lnTo>
                  <a:pt x="79107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3421" y="1473091"/>
            <a:ext cx="5391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Fungsi Loss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25958" y="6644920"/>
            <a:ext cx="5829215" cy="1206536"/>
            <a:chOff x="0" y="0"/>
            <a:chExt cx="7772286" cy="160871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5691" y="66675"/>
              <a:ext cx="7746595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BINARY CROSS-ENTROPY (BCE)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93374"/>
              <a:ext cx="7772286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M</a:t>
              </a: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engukur perbedaan setiap piksel gambar asli dan hasil rekonstruksi. Semakin kecil, semakin mirip.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25958" y="3425716"/>
            <a:ext cx="13036084" cy="1609946"/>
            <a:chOff x="0" y="0"/>
            <a:chExt cx="17381446" cy="214659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7381446" cy="2146595"/>
              <a:chOff x="0" y="0"/>
              <a:chExt cx="3433372" cy="42401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433372" cy="424019"/>
              </a:xfrm>
              <a:custGeom>
                <a:avLst/>
                <a:gdLst/>
                <a:ahLst/>
                <a:cxnLst/>
                <a:rect r="r" b="b" t="t" l="l"/>
                <a:pathLst>
                  <a:path h="424019" w="3433372">
                    <a:moveTo>
                      <a:pt x="16035" y="0"/>
                    </a:moveTo>
                    <a:lnTo>
                      <a:pt x="3417337" y="0"/>
                    </a:lnTo>
                    <a:cubicBezTo>
                      <a:pt x="3426193" y="0"/>
                      <a:pt x="3433372" y="7179"/>
                      <a:pt x="3433372" y="16035"/>
                    </a:cubicBezTo>
                    <a:lnTo>
                      <a:pt x="3433372" y="407984"/>
                    </a:lnTo>
                    <a:cubicBezTo>
                      <a:pt x="3433372" y="416840"/>
                      <a:pt x="3426193" y="424019"/>
                      <a:pt x="3417337" y="424019"/>
                    </a:cubicBezTo>
                    <a:lnTo>
                      <a:pt x="16035" y="424019"/>
                    </a:lnTo>
                    <a:cubicBezTo>
                      <a:pt x="11782" y="424019"/>
                      <a:pt x="7704" y="422329"/>
                      <a:pt x="4697" y="419322"/>
                    </a:cubicBezTo>
                    <a:cubicBezTo>
                      <a:pt x="1689" y="416315"/>
                      <a:pt x="0" y="412237"/>
                      <a:pt x="0" y="407984"/>
                    </a:cubicBezTo>
                    <a:lnTo>
                      <a:pt x="0" y="16035"/>
                    </a:lnTo>
                    <a:cubicBezTo>
                      <a:pt x="0" y="7179"/>
                      <a:pt x="7179" y="0"/>
                      <a:pt x="16035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w="28575" cap="rnd">
                <a:solidFill>
                  <a:srgbClr val="649E9E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433372" cy="4621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514469" y="462639"/>
              <a:ext cx="8721308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Los</a:t>
              </a:r>
              <a:r>
                <a:rPr lang="en-US" b="true" sz="5000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 = BCE + β · KL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630067" y="2420382"/>
            <a:ext cx="4138668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1130764" y="5246516"/>
            <a:ext cx="439162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dengan β = 1 pada seluruh eksperimen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7986241">
            <a:off x="4932268" y="5539536"/>
            <a:ext cx="19473180" cy="13898982"/>
          </a:xfrm>
          <a:custGeom>
            <a:avLst/>
            <a:gdLst/>
            <a:ahLst/>
            <a:cxnLst/>
            <a:rect r="r" b="b" t="t" l="l"/>
            <a:pathLst>
              <a:path h="13898982" w="19473180">
                <a:moveTo>
                  <a:pt x="19473180" y="0"/>
                </a:moveTo>
                <a:lnTo>
                  <a:pt x="0" y="0"/>
                </a:lnTo>
                <a:lnTo>
                  <a:pt x="0" y="13898982"/>
                </a:lnTo>
                <a:lnTo>
                  <a:pt x="19473180" y="13898982"/>
                </a:lnTo>
                <a:lnTo>
                  <a:pt x="19473180" y="0"/>
                </a:lnTo>
                <a:close/>
              </a:path>
            </a:pathLst>
          </a:custGeom>
          <a:blipFill>
            <a:blip r:embed="rId5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213187" y="6644920"/>
            <a:ext cx="6448855" cy="1206536"/>
            <a:chOff x="0" y="0"/>
            <a:chExt cx="8598473" cy="160871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28422" y="66675"/>
              <a:ext cx="8570051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KULLBACK-LEIBLER (KL) DIVERGENCE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93374"/>
              <a:ext cx="8598473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M</a:t>
              </a: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engukur jarak distribusi laten dari normal standar. Naik ketika encoder menyimpan lebih banyak informasi.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953001">
            <a:off x="13099335" y="2228007"/>
            <a:ext cx="10831652" cy="14837879"/>
          </a:xfrm>
          <a:custGeom>
            <a:avLst/>
            <a:gdLst/>
            <a:ahLst/>
            <a:cxnLst/>
            <a:rect r="r" b="b" t="t" l="l"/>
            <a:pathLst>
              <a:path h="14837879" w="10831652">
                <a:moveTo>
                  <a:pt x="0" y="0"/>
                </a:moveTo>
                <a:lnTo>
                  <a:pt x="10831652" y="0"/>
                </a:lnTo>
                <a:lnTo>
                  <a:pt x="10831652" y="14837879"/>
                </a:lnTo>
                <a:lnTo>
                  <a:pt x="0" y="14837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873633">
            <a:off x="-1502759" y="-4407295"/>
            <a:ext cx="12753998" cy="12541613"/>
          </a:xfrm>
          <a:custGeom>
            <a:avLst/>
            <a:gdLst/>
            <a:ahLst/>
            <a:cxnLst/>
            <a:rect r="r" b="b" t="t" l="l"/>
            <a:pathLst>
              <a:path h="12541613" w="12753998">
                <a:moveTo>
                  <a:pt x="0" y="0"/>
                </a:moveTo>
                <a:lnTo>
                  <a:pt x="12753998" y="0"/>
                </a:lnTo>
                <a:lnTo>
                  <a:pt x="12753998" y="12541613"/>
                </a:lnTo>
                <a:lnTo>
                  <a:pt x="0" y="12541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3139342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807812" y="3851658"/>
            <a:ext cx="14672376" cy="1073821"/>
            <a:chOff x="0" y="0"/>
            <a:chExt cx="19563169" cy="143176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12700"/>
              <a:ext cx="2413000" cy="1386840"/>
              <a:chOff x="0" y="0"/>
              <a:chExt cx="2413000" cy="13868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784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input</a:t>
                </a: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2595969" y="718820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3434169" y="44922"/>
              <a:ext cx="2413000" cy="1386840"/>
              <a:chOff x="0" y="0"/>
              <a:chExt cx="2413000" cy="13868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303030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hidden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ReLU</a:t>
                </a:r>
              </a:p>
            </p:txBody>
          </p:sp>
        </p:grpSp>
        <p:sp>
          <p:nvSpPr>
            <p:cNvPr name="AutoShape 13" id="13"/>
            <p:cNvSpPr/>
            <p:nvPr/>
          </p:nvSpPr>
          <p:spPr>
            <a:xfrm>
              <a:off x="6024969" y="737072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6863169" y="44922"/>
              <a:ext cx="2413000" cy="1386840"/>
              <a:chOff x="0" y="0"/>
              <a:chExt cx="2413000" cy="13868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ADE2E2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μ, log σ²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latent</a:t>
                </a:r>
              </a:p>
            </p:txBody>
          </p:sp>
        </p:grpSp>
        <p:sp>
          <p:nvSpPr>
            <p:cNvPr name="AutoShape 17" id="17"/>
            <p:cNvSpPr/>
            <p:nvPr/>
          </p:nvSpPr>
          <p:spPr>
            <a:xfrm>
              <a:off x="9453969" y="706120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8" id="18"/>
            <p:cNvGrpSpPr/>
            <p:nvPr/>
          </p:nvGrpSpPr>
          <p:grpSpPr>
            <a:xfrm rot="0">
              <a:off x="13721169" y="44922"/>
              <a:ext cx="2413000" cy="1386840"/>
              <a:chOff x="0" y="0"/>
              <a:chExt cx="2413000" cy="138684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303030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hidden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ReLU</a:t>
                </a:r>
              </a:p>
            </p:txBody>
          </p:sp>
        </p:grpSp>
        <p:sp>
          <p:nvSpPr>
            <p:cNvPr name="AutoShape 21" id="21"/>
            <p:cNvSpPr/>
            <p:nvPr/>
          </p:nvSpPr>
          <p:spPr>
            <a:xfrm>
              <a:off x="16311969" y="693420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17150169" y="0"/>
              <a:ext cx="2413000" cy="1386840"/>
              <a:chOff x="0" y="0"/>
              <a:chExt cx="2413000" cy="13868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784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sigmoid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292169" y="44922"/>
              <a:ext cx="2413000" cy="1386840"/>
              <a:chOff x="0" y="0"/>
              <a:chExt cx="2413000" cy="138684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77800" y="0"/>
                    </a:moveTo>
                    <a:lnTo>
                      <a:pt x="2235200" y="0"/>
                    </a:lnTo>
                    <a:cubicBezTo>
                      <a:pt x="2333396" y="0"/>
                      <a:pt x="2413000" y="79604"/>
                      <a:pt x="2413000" y="177800"/>
                    </a:cubicBezTo>
                    <a:lnTo>
                      <a:pt x="2413000" y="1209040"/>
                    </a:lnTo>
                    <a:cubicBezTo>
                      <a:pt x="2413000" y="1256196"/>
                      <a:pt x="2394268" y="1301420"/>
                      <a:pt x="2360924" y="1334764"/>
                    </a:cubicBezTo>
                    <a:cubicBezTo>
                      <a:pt x="2327580" y="1368108"/>
                      <a:pt x="2282355" y="1386840"/>
                      <a:pt x="2235200" y="1386840"/>
                    </a:cubicBezTo>
                    <a:lnTo>
                      <a:pt x="177800" y="1386840"/>
                    </a:lnTo>
                    <a:cubicBezTo>
                      <a:pt x="79604" y="1386840"/>
                      <a:pt x="0" y="1307236"/>
                      <a:pt x="0" y="120904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ADE2E2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z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latent</a:t>
                </a:r>
              </a:p>
            </p:txBody>
          </p:sp>
        </p:grpSp>
        <p:sp>
          <p:nvSpPr>
            <p:cNvPr name="AutoShape 28" id="28"/>
            <p:cNvSpPr/>
            <p:nvPr/>
          </p:nvSpPr>
          <p:spPr>
            <a:xfrm>
              <a:off x="12882969" y="693420"/>
              <a:ext cx="660400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1807812" y="5630329"/>
          <a:ext cx="14672376" cy="2762574"/>
        </p:xfrm>
        <a:graphic>
          <a:graphicData uri="http://schemas.openxmlformats.org/drawingml/2006/table">
            <a:tbl>
              <a:tblPr/>
              <a:tblGrid>
                <a:gridCol w="2445396"/>
                <a:gridCol w="2445396"/>
                <a:gridCol w="2445396"/>
                <a:gridCol w="2445396"/>
                <a:gridCol w="2445396"/>
                <a:gridCol w="2445396"/>
              </a:tblGrid>
              <a:tr h="920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Hidden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Latent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Learning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Batch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  <a:tr h="920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128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0,001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202.516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128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GS_067 (terbaik)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E2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512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E2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E2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0,001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E2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829.232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E2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E2E2"/>
                    </a:solidFill>
                  </a:tcPr>
                </a:tc>
              </a:tr>
            </a:tbl>
          </a:graphicData>
        </a:graphic>
      </p:graphicFrame>
      <p:sp>
        <p:nvSpPr>
          <p:cNvPr name="TextBox 30" id="30"/>
          <p:cNvSpPr txBox="true"/>
          <p:nvPr/>
        </p:nvSpPr>
        <p:spPr>
          <a:xfrm rot="0">
            <a:off x="1028700" y="1571527"/>
            <a:ext cx="40695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Arsitektu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 VAE berbasis MLP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2063017"/>
            <a:ext cx="5391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Model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46997">
            <a:off x="-8107252" y="2516704"/>
            <a:ext cx="16000703" cy="20137224"/>
          </a:xfrm>
          <a:custGeom>
            <a:avLst/>
            <a:gdLst/>
            <a:ahLst/>
            <a:cxnLst/>
            <a:rect r="r" b="b" t="t" l="l"/>
            <a:pathLst>
              <a:path h="20137224" w="16000703">
                <a:moveTo>
                  <a:pt x="0" y="0"/>
                </a:moveTo>
                <a:lnTo>
                  <a:pt x="16000702" y="0"/>
                </a:lnTo>
                <a:lnTo>
                  <a:pt x="16000702" y="20137224"/>
                </a:lnTo>
                <a:lnTo>
                  <a:pt x="0" y="20137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8130" y="3079759"/>
            <a:ext cx="9579291" cy="4127482"/>
          </a:xfrm>
          <a:custGeom>
            <a:avLst/>
            <a:gdLst/>
            <a:ahLst/>
            <a:cxnLst/>
            <a:rect r="r" b="b" t="t" l="l"/>
            <a:pathLst>
              <a:path h="4127482" w="9579291">
                <a:moveTo>
                  <a:pt x="0" y="0"/>
                </a:moveTo>
                <a:lnTo>
                  <a:pt x="9579290" y="0"/>
                </a:lnTo>
                <a:lnTo>
                  <a:pt x="9579290" y="4127482"/>
                </a:lnTo>
                <a:lnTo>
                  <a:pt x="0" y="4127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08399">
            <a:off x="7096198" y="-7470443"/>
            <a:ext cx="16041107" cy="11449340"/>
          </a:xfrm>
          <a:custGeom>
            <a:avLst/>
            <a:gdLst/>
            <a:ahLst/>
            <a:cxnLst/>
            <a:rect r="r" b="b" t="t" l="l"/>
            <a:pathLst>
              <a:path h="11449340" w="16041107">
                <a:moveTo>
                  <a:pt x="0" y="0"/>
                </a:moveTo>
                <a:lnTo>
                  <a:pt x="16041107" y="0"/>
                </a:lnTo>
                <a:lnTo>
                  <a:pt x="16041107" y="11449339"/>
                </a:lnTo>
                <a:lnTo>
                  <a:pt x="0" y="11449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7986241">
            <a:off x="-10222974" y="-13428417"/>
            <a:ext cx="19473180" cy="13898982"/>
          </a:xfrm>
          <a:custGeom>
            <a:avLst/>
            <a:gdLst/>
            <a:ahLst/>
            <a:cxnLst/>
            <a:rect r="r" b="b" t="t" l="l"/>
            <a:pathLst>
              <a:path h="13898982" w="19473180">
                <a:moveTo>
                  <a:pt x="19473180" y="0"/>
                </a:moveTo>
                <a:lnTo>
                  <a:pt x="0" y="0"/>
                </a:lnTo>
                <a:lnTo>
                  <a:pt x="0" y="13898982"/>
                </a:lnTo>
                <a:lnTo>
                  <a:pt x="19473180" y="13898982"/>
                </a:lnTo>
                <a:lnTo>
                  <a:pt x="19473180" y="0"/>
                </a:lnTo>
                <a:close/>
              </a:path>
            </a:pathLst>
          </a:custGeom>
          <a:blipFill>
            <a:blip r:embed="rId5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063845" y="8370333"/>
            <a:ext cx="3723916" cy="585725"/>
            <a:chOff x="0" y="0"/>
            <a:chExt cx="4965221" cy="780967"/>
          </a:xfrm>
        </p:grpSpPr>
        <p:sp>
          <p:nvSpPr>
            <p:cNvPr name="AutoShape 7" id="7"/>
            <p:cNvSpPr/>
            <p:nvPr/>
          </p:nvSpPr>
          <p:spPr>
            <a:xfrm>
              <a:off x="1505402" y="768267"/>
              <a:ext cx="1954417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66675"/>
              <a:ext cx="4965221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Pik</a:t>
              </a:r>
              <a:r>
                <a:rPr lang="en-US" b="true" sz="2800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sel 0–255 → 0–1</a:t>
              </a: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376333" y="4852925"/>
          <a:ext cx="6480402" cy="2354316"/>
        </p:xfrm>
        <a:graphic>
          <a:graphicData uri="http://schemas.openxmlformats.org/drawingml/2006/table">
            <a:tbl>
              <a:tblPr/>
              <a:tblGrid>
                <a:gridCol w="2224307"/>
                <a:gridCol w="1837564"/>
                <a:gridCol w="2418531"/>
              </a:tblGrid>
              <a:tr h="6120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Subset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9E9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Jumlah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9E9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Helvetica Now Display Bold"/>
                          <a:ea typeface="Helvetica Now Display Bold"/>
                          <a:cs typeface="Helvetica Now Display Bold"/>
                          <a:sym typeface="Helvetica Now Display Bold"/>
                        </a:rPr>
                        <a:t>Kegunaan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9E9E"/>
                    </a:solidFill>
                  </a:tcPr>
                </a:tc>
              </a:tr>
              <a:tr h="5830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Training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54000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Memperbarui Bobot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</a:tr>
              <a:tr h="5796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Validation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6000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Memilih Model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</a:tr>
              <a:tr h="5796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Test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10000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Now Display"/>
                          <a:ea typeface="Helvetica Now Display"/>
                          <a:cs typeface="Helvetica Now Display"/>
                          <a:sym typeface="Helvetica Now Display"/>
                        </a:rPr>
                        <a:t>Penilaian Akhir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295">
                      <a:solidFill>
                        <a:srgbClr val="1B6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5971089" y="8370333"/>
            <a:ext cx="3723916" cy="585725"/>
            <a:chOff x="0" y="0"/>
            <a:chExt cx="4965221" cy="780967"/>
          </a:xfrm>
        </p:grpSpPr>
        <p:sp>
          <p:nvSpPr>
            <p:cNvPr name="AutoShape 11" id="11"/>
            <p:cNvSpPr/>
            <p:nvPr/>
          </p:nvSpPr>
          <p:spPr>
            <a:xfrm>
              <a:off x="1505402" y="768267"/>
              <a:ext cx="1954417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4965221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Bentuk [1,</a:t>
              </a:r>
              <a:r>
                <a:rPr lang="en-US" b="true" sz="2800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 28, 28]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980" y="8370333"/>
            <a:ext cx="3723916" cy="585725"/>
            <a:chOff x="0" y="0"/>
            <a:chExt cx="4965221" cy="780967"/>
          </a:xfrm>
        </p:grpSpPr>
        <p:sp>
          <p:nvSpPr>
            <p:cNvPr name="AutoShape 14" id="14"/>
            <p:cNvSpPr/>
            <p:nvPr/>
          </p:nvSpPr>
          <p:spPr>
            <a:xfrm>
              <a:off x="1505402" y="768267"/>
              <a:ext cx="1954417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66675"/>
              <a:ext cx="4965221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Batch siz</a:t>
              </a:r>
              <a:r>
                <a:rPr lang="en-US" b="true" sz="2800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 128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80871" y="8370333"/>
            <a:ext cx="3723916" cy="585725"/>
            <a:chOff x="0" y="0"/>
            <a:chExt cx="4965221" cy="780967"/>
          </a:xfrm>
        </p:grpSpPr>
        <p:sp>
          <p:nvSpPr>
            <p:cNvPr name="AutoShape 17" id="17"/>
            <p:cNvSpPr/>
            <p:nvPr/>
          </p:nvSpPr>
          <p:spPr>
            <a:xfrm>
              <a:off x="1505402" y="768267"/>
              <a:ext cx="1954417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66675"/>
              <a:ext cx="4965221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T</a:t>
              </a:r>
              <a:r>
                <a:rPr lang="en-US" b="true" sz="2800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est tidak diacak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72409" y="3243836"/>
            <a:ext cx="9110732" cy="3799329"/>
          </a:xfrm>
          <a:custGeom>
            <a:avLst/>
            <a:gdLst/>
            <a:ahLst/>
            <a:cxnLst/>
            <a:rect r="r" b="b" t="t" l="l"/>
            <a:pathLst>
              <a:path h="3799329" w="9110732">
                <a:moveTo>
                  <a:pt x="0" y="0"/>
                </a:moveTo>
                <a:lnTo>
                  <a:pt x="9110732" y="0"/>
                </a:lnTo>
                <a:lnTo>
                  <a:pt x="9110732" y="3799328"/>
                </a:lnTo>
                <a:lnTo>
                  <a:pt x="0" y="3799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416358" y="3472389"/>
            <a:ext cx="6440377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Training dan validation dibagi 90:10 dari 60.000 data latih (seed 42). Test memakai split resmi dan hanya disentuh di evaluasi akhir.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133475"/>
            <a:ext cx="7403959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Dataset MNIST </a:t>
            </a:r>
          </a:p>
          <a:p>
            <a:pPr algn="just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&amp; Pembagian 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7986241">
            <a:off x="6804916" y="-5520404"/>
            <a:ext cx="19473180" cy="13898982"/>
          </a:xfrm>
          <a:custGeom>
            <a:avLst/>
            <a:gdLst/>
            <a:ahLst/>
            <a:cxnLst/>
            <a:rect r="r" b="b" t="t" l="l"/>
            <a:pathLst>
              <a:path h="13898982" w="19473180">
                <a:moveTo>
                  <a:pt x="19473180" y="0"/>
                </a:moveTo>
                <a:lnTo>
                  <a:pt x="0" y="0"/>
                </a:lnTo>
                <a:lnTo>
                  <a:pt x="0" y="13898982"/>
                </a:lnTo>
                <a:lnTo>
                  <a:pt x="19473180" y="13898982"/>
                </a:lnTo>
                <a:lnTo>
                  <a:pt x="1947318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81364">
            <a:off x="-8626786" y="4366399"/>
            <a:ext cx="11609013" cy="13577793"/>
          </a:xfrm>
          <a:custGeom>
            <a:avLst/>
            <a:gdLst/>
            <a:ahLst/>
            <a:cxnLst/>
            <a:rect r="r" b="b" t="t" l="l"/>
            <a:pathLst>
              <a:path h="13577793" w="11609013">
                <a:moveTo>
                  <a:pt x="11609013" y="0"/>
                </a:moveTo>
                <a:lnTo>
                  <a:pt x="0" y="0"/>
                </a:lnTo>
                <a:lnTo>
                  <a:pt x="0" y="13577793"/>
                </a:lnTo>
                <a:lnTo>
                  <a:pt x="11609013" y="13577793"/>
                </a:lnTo>
                <a:lnTo>
                  <a:pt x="11609013" y="0"/>
                </a:lnTo>
                <a:close/>
              </a:path>
            </a:pathLst>
          </a:custGeom>
          <a:blipFill>
            <a:blip r:embed="rId3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872642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5400000">
            <a:off x="2127429" y="2514386"/>
            <a:ext cx="6261857" cy="11520085"/>
            <a:chOff x="0" y="0"/>
            <a:chExt cx="1649213" cy="3034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9213" cy="3034097"/>
            </a:xfrm>
            <a:custGeom>
              <a:avLst/>
              <a:gdLst/>
              <a:ahLst/>
              <a:cxnLst/>
              <a:rect r="r" b="b" t="t" l="l"/>
              <a:pathLst>
                <a:path h="3034097" w="1649213">
                  <a:moveTo>
                    <a:pt x="0" y="0"/>
                  </a:moveTo>
                  <a:lnTo>
                    <a:pt x="1649213" y="0"/>
                  </a:lnTo>
                  <a:lnTo>
                    <a:pt x="1649213" y="3034097"/>
                  </a:lnTo>
                  <a:lnTo>
                    <a:pt x="0" y="3034097"/>
                  </a:lnTo>
                  <a:close/>
                </a:path>
              </a:pathLst>
            </a:custGeom>
            <a:gradFill rotWithShape="true">
              <a:gsLst>
                <a:gs pos="0">
                  <a:srgbClr val="F1F1F1">
                    <a:alpha val="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49213" cy="3072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06069" y="3428632"/>
            <a:ext cx="12875862" cy="1406044"/>
            <a:chOff x="0" y="0"/>
            <a:chExt cx="17167816" cy="187472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261885" cy="1874726"/>
              <a:chOff x="0" y="0"/>
              <a:chExt cx="2413000" cy="13868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31529" y="0"/>
                    </a:moveTo>
                    <a:lnTo>
                      <a:pt x="2281471" y="0"/>
                    </a:lnTo>
                    <a:cubicBezTo>
                      <a:pt x="2354113" y="0"/>
                      <a:pt x="2413000" y="58887"/>
                      <a:pt x="2413000" y="131529"/>
                    </a:cubicBezTo>
                    <a:lnTo>
                      <a:pt x="2413000" y="1255311"/>
                    </a:lnTo>
                    <a:cubicBezTo>
                      <a:pt x="2413000" y="1290195"/>
                      <a:pt x="2399143" y="1323650"/>
                      <a:pt x="2374476" y="1348316"/>
                    </a:cubicBezTo>
                    <a:cubicBezTo>
                      <a:pt x="2349810" y="1372983"/>
                      <a:pt x="2316355" y="1386840"/>
                      <a:pt x="2281471" y="1386840"/>
                    </a:cubicBezTo>
                    <a:lnTo>
                      <a:pt x="131529" y="1386840"/>
                    </a:lnTo>
                    <a:cubicBezTo>
                      <a:pt x="58887" y="1386840"/>
                      <a:pt x="0" y="1327953"/>
                      <a:pt x="0" y="1255311"/>
                    </a:cubicBezTo>
                    <a:lnTo>
                      <a:pt x="0" y="131529"/>
                    </a:lnTo>
                    <a:cubicBezTo>
                      <a:pt x="0" y="58887"/>
                      <a:pt x="58887" y="0"/>
                      <a:pt x="131529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Array NumPy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(N, 28, 28, 1)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3502234" y="935646"/>
              <a:ext cx="892726" cy="0"/>
            </a:xfrm>
            <a:prstGeom prst="line">
              <a:avLst/>
            </a:prstGeom>
            <a:ln cap="flat" w="381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4635310" y="0"/>
              <a:ext cx="3261885" cy="1874726"/>
              <a:chOff x="0" y="0"/>
              <a:chExt cx="2413000" cy="138684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31529" y="0"/>
                    </a:moveTo>
                    <a:lnTo>
                      <a:pt x="2281471" y="0"/>
                    </a:lnTo>
                    <a:cubicBezTo>
                      <a:pt x="2354113" y="0"/>
                      <a:pt x="2413000" y="58887"/>
                      <a:pt x="2413000" y="131529"/>
                    </a:cubicBezTo>
                    <a:lnTo>
                      <a:pt x="2413000" y="1255311"/>
                    </a:lnTo>
                    <a:cubicBezTo>
                      <a:pt x="2413000" y="1290195"/>
                      <a:pt x="2399143" y="1323650"/>
                      <a:pt x="2374476" y="1348316"/>
                    </a:cubicBezTo>
                    <a:cubicBezTo>
                      <a:pt x="2349810" y="1372983"/>
                      <a:pt x="2316355" y="1386840"/>
                      <a:pt x="2281471" y="1386840"/>
                    </a:cubicBezTo>
                    <a:lnTo>
                      <a:pt x="131529" y="1386840"/>
                    </a:lnTo>
                    <a:cubicBezTo>
                      <a:pt x="58887" y="1386840"/>
                      <a:pt x="0" y="1327953"/>
                      <a:pt x="0" y="1255311"/>
                    </a:cubicBezTo>
                    <a:lnTo>
                      <a:pt x="0" y="131529"/>
                    </a:lnTo>
                    <a:cubicBezTo>
                      <a:pt x="0" y="58887"/>
                      <a:pt x="58887" y="0"/>
                      <a:pt x="131529" y="0"/>
                    </a:cubicBezTo>
                    <a:close/>
                  </a:path>
                </a:pathLst>
              </a:custGeom>
              <a:solidFill>
                <a:srgbClr val="303030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MNISTDataset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tensor [1, 28, 28]</a:t>
                </a: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8137545" y="893806"/>
              <a:ext cx="892726" cy="0"/>
            </a:xfrm>
            <a:prstGeom prst="line">
              <a:avLst/>
            </a:prstGeom>
            <a:ln cap="flat" w="381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13905931" y="0"/>
              <a:ext cx="3261885" cy="1874726"/>
              <a:chOff x="0" y="0"/>
              <a:chExt cx="2413000" cy="13868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31529" y="0"/>
                    </a:moveTo>
                    <a:lnTo>
                      <a:pt x="2281471" y="0"/>
                    </a:lnTo>
                    <a:cubicBezTo>
                      <a:pt x="2354113" y="0"/>
                      <a:pt x="2413000" y="58887"/>
                      <a:pt x="2413000" y="131529"/>
                    </a:cubicBezTo>
                    <a:lnTo>
                      <a:pt x="2413000" y="1255311"/>
                    </a:lnTo>
                    <a:cubicBezTo>
                      <a:pt x="2413000" y="1290195"/>
                      <a:pt x="2399143" y="1323650"/>
                      <a:pt x="2374476" y="1348316"/>
                    </a:cubicBezTo>
                    <a:cubicBezTo>
                      <a:pt x="2349810" y="1372983"/>
                      <a:pt x="2316355" y="1386840"/>
                      <a:pt x="2281471" y="1386840"/>
                    </a:cubicBezTo>
                    <a:lnTo>
                      <a:pt x="131529" y="1386840"/>
                    </a:lnTo>
                    <a:cubicBezTo>
                      <a:pt x="58887" y="1386840"/>
                      <a:pt x="0" y="1327953"/>
                      <a:pt x="0" y="1255311"/>
                    </a:cubicBezTo>
                    <a:lnTo>
                      <a:pt x="0" y="131529"/>
                    </a:lnTo>
                    <a:cubicBezTo>
                      <a:pt x="0" y="58887"/>
                      <a:pt x="58887" y="0"/>
                      <a:pt x="131529" y="0"/>
                    </a:cubicBezTo>
                    <a:close/>
                  </a:path>
                </a:pathLst>
              </a:custGeom>
              <a:solidFill>
                <a:srgbClr val="ADE2E2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Masuk model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[128, 1, 28, 28]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270620" y="0"/>
              <a:ext cx="3261885" cy="1874726"/>
              <a:chOff x="0" y="0"/>
              <a:chExt cx="2413000" cy="138684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413000" cy="1386840"/>
              </a:xfrm>
              <a:custGeom>
                <a:avLst/>
                <a:gdLst/>
                <a:ahLst/>
                <a:cxnLst/>
                <a:rect r="r" b="b" t="t" l="l"/>
                <a:pathLst>
                  <a:path h="1386840" w="2413000">
                    <a:moveTo>
                      <a:pt x="131529" y="0"/>
                    </a:moveTo>
                    <a:lnTo>
                      <a:pt x="2281471" y="0"/>
                    </a:lnTo>
                    <a:cubicBezTo>
                      <a:pt x="2354113" y="0"/>
                      <a:pt x="2413000" y="58887"/>
                      <a:pt x="2413000" y="131529"/>
                    </a:cubicBezTo>
                    <a:lnTo>
                      <a:pt x="2413000" y="1255311"/>
                    </a:lnTo>
                    <a:cubicBezTo>
                      <a:pt x="2413000" y="1290195"/>
                      <a:pt x="2399143" y="1323650"/>
                      <a:pt x="2374476" y="1348316"/>
                    </a:cubicBezTo>
                    <a:cubicBezTo>
                      <a:pt x="2349810" y="1372983"/>
                      <a:pt x="2316355" y="1386840"/>
                      <a:pt x="2281471" y="1386840"/>
                    </a:cubicBezTo>
                    <a:lnTo>
                      <a:pt x="131529" y="1386840"/>
                    </a:lnTo>
                    <a:cubicBezTo>
                      <a:pt x="58887" y="1386840"/>
                      <a:pt x="0" y="1327953"/>
                      <a:pt x="0" y="1255311"/>
                    </a:cubicBezTo>
                    <a:lnTo>
                      <a:pt x="0" y="131529"/>
                    </a:lnTo>
                    <a:cubicBezTo>
                      <a:pt x="0" y="58887"/>
                      <a:pt x="58887" y="0"/>
                      <a:pt x="131529" y="0"/>
                    </a:cubicBezTo>
                    <a:close/>
                  </a:path>
                </a:pathLst>
              </a:custGeom>
              <a:solidFill>
                <a:srgbClr val="303030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413000" cy="1424940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DataLoader</a:t>
                </a:r>
              </a:p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batch 128</a:t>
                </a: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12772855" y="876638"/>
              <a:ext cx="892726" cy="0"/>
            </a:xfrm>
            <a:prstGeom prst="line">
              <a:avLst/>
            </a:prstGeom>
            <a:ln cap="flat" w="38100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</p:grpSp>
      <p:graphicFrame>
        <p:nvGraphicFramePr>
          <p:cNvPr name="Object 24" id="24"/>
          <p:cNvGraphicFramePr/>
          <p:nvPr/>
        </p:nvGraphicFramePr>
        <p:xfrm>
          <a:off x="2866444" y="6064629"/>
          <a:ext cx="16230600" cy="2064007"/>
        </p:xfrm>
        <a:graphic>
          <a:graphicData uri="http://schemas.openxmlformats.org/presentationml/2006/ole">
            <p:oleObj imgW="19469100" imgH="5295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5" id="25"/>
          <p:cNvSpPr txBox="true"/>
          <p:nvPr/>
        </p:nvSpPr>
        <p:spPr>
          <a:xfrm rot="0">
            <a:off x="1040427" y="1381462"/>
            <a:ext cx="452841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ari array gambar menjadi batch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777267"/>
            <a:ext cx="5391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Pipeline Data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46997">
            <a:off x="-9997286" y="218388"/>
            <a:ext cx="16000703" cy="20137224"/>
          </a:xfrm>
          <a:custGeom>
            <a:avLst/>
            <a:gdLst/>
            <a:ahLst/>
            <a:cxnLst/>
            <a:rect r="r" b="b" t="t" l="l"/>
            <a:pathLst>
              <a:path h="20137224" w="16000703">
                <a:moveTo>
                  <a:pt x="0" y="0"/>
                </a:moveTo>
                <a:lnTo>
                  <a:pt x="16000703" y="0"/>
                </a:lnTo>
                <a:lnTo>
                  <a:pt x="16000703" y="20137224"/>
                </a:lnTo>
                <a:lnTo>
                  <a:pt x="0" y="20137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2094">
            <a:off x="8802130" y="1101573"/>
            <a:ext cx="16041107" cy="11449340"/>
          </a:xfrm>
          <a:custGeom>
            <a:avLst/>
            <a:gdLst/>
            <a:ahLst/>
            <a:cxnLst/>
            <a:rect r="r" b="b" t="t" l="l"/>
            <a:pathLst>
              <a:path h="11449340" w="16041107">
                <a:moveTo>
                  <a:pt x="0" y="0"/>
                </a:moveTo>
                <a:lnTo>
                  <a:pt x="16041107" y="0"/>
                </a:lnTo>
                <a:lnTo>
                  <a:pt x="16041107" y="11449340"/>
                </a:lnTo>
                <a:lnTo>
                  <a:pt x="0" y="11449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76508">
            <a:off x="11249664" y="-6482593"/>
            <a:ext cx="8453273" cy="9886869"/>
          </a:xfrm>
          <a:custGeom>
            <a:avLst/>
            <a:gdLst/>
            <a:ahLst/>
            <a:cxnLst/>
            <a:rect r="r" b="b" t="t" l="l"/>
            <a:pathLst>
              <a:path h="9886869" w="8453273">
                <a:moveTo>
                  <a:pt x="0" y="0"/>
                </a:moveTo>
                <a:lnTo>
                  <a:pt x="8453273" y="0"/>
                </a:lnTo>
                <a:lnTo>
                  <a:pt x="8453273" y="9886869"/>
                </a:lnTo>
                <a:lnTo>
                  <a:pt x="0" y="9886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28103" y="7377685"/>
            <a:ext cx="3330641" cy="1014943"/>
            <a:chOff x="0" y="0"/>
            <a:chExt cx="4440855" cy="1353257"/>
          </a:xfrm>
        </p:grpSpPr>
        <p:sp>
          <p:nvSpPr>
            <p:cNvPr name="AutoShape 6" id="6"/>
            <p:cNvSpPr/>
            <p:nvPr/>
          </p:nvSpPr>
          <p:spPr>
            <a:xfrm flipV="true">
              <a:off x="0" y="12700"/>
              <a:ext cx="2466351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33979" y="295275"/>
              <a:ext cx="4129675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Pengaturan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57018"/>
              <a:ext cx="4440855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O</a:t>
              </a: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ptimizer Adam, β = 1, seed 42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844" y="7368160"/>
            <a:ext cx="4570312" cy="1014943"/>
            <a:chOff x="0" y="0"/>
            <a:chExt cx="6093749" cy="1353257"/>
          </a:xfrm>
        </p:grpSpPr>
        <p:sp>
          <p:nvSpPr>
            <p:cNvPr name="AutoShape 10" id="10"/>
            <p:cNvSpPr/>
            <p:nvPr/>
          </p:nvSpPr>
          <p:spPr>
            <a:xfrm>
              <a:off x="12" y="12700"/>
              <a:ext cx="4691086" cy="4368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33991" y="295275"/>
              <a:ext cx="6059757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Rata Rata yang Benar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2" y="957018"/>
              <a:ext cx="609373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Loss tiap batch dibobot jumlah gambarnya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24975" y="7368160"/>
            <a:ext cx="5201064" cy="1024468"/>
            <a:chOff x="0" y="0"/>
            <a:chExt cx="6934753" cy="1365957"/>
          </a:xfrm>
        </p:grpSpPr>
        <p:sp>
          <p:nvSpPr>
            <p:cNvPr name="AutoShape 14" id="14"/>
            <p:cNvSpPr/>
            <p:nvPr/>
          </p:nvSpPr>
          <p:spPr>
            <a:xfrm flipV="true">
              <a:off x="76" y="12700"/>
              <a:ext cx="3182833" cy="18939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34055" y="307975"/>
              <a:ext cx="6900698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Setiap EPOCH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6" y="969717"/>
              <a:ext cx="69346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Di</a:t>
              </a: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evaluasi pada validation tanpa mengubah bobot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25456" y="4412498"/>
            <a:ext cx="2039541" cy="1462004"/>
            <a:chOff x="0" y="0"/>
            <a:chExt cx="2413000" cy="17297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13000" cy="1729711"/>
            </a:xfrm>
            <a:custGeom>
              <a:avLst/>
              <a:gdLst/>
              <a:ahLst/>
              <a:cxnLst/>
              <a:rect r="r" b="b" t="t" l="l"/>
              <a:pathLst>
                <a:path h="1729711" w="2413000">
                  <a:moveTo>
                    <a:pt x="157768" y="0"/>
                  </a:moveTo>
                  <a:lnTo>
                    <a:pt x="2255232" y="0"/>
                  </a:lnTo>
                  <a:cubicBezTo>
                    <a:pt x="2297075" y="0"/>
                    <a:pt x="2337204" y="16622"/>
                    <a:pt x="2366791" y="46209"/>
                  </a:cubicBezTo>
                  <a:cubicBezTo>
                    <a:pt x="2396378" y="75796"/>
                    <a:pt x="2413000" y="115925"/>
                    <a:pt x="2413000" y="157768"/>
                  </a:cubicBezTo>
                  <a:lnTo>
                    <a:pt x="2413000" y="1571943"/>
                  </a:lnTo>
                  <a:cubicBezTo>
                    <a:pt x="2413000" y="1613785"/>
                    <a:pt x="2396378" y="1653914"/>
                    <a:pt x="2366791" y="1683502"/>
                  </a:cubicBezTo>
                  <a:cubicBezTo>
                    <a:pt x="2337204" y="1713089"/>
                    <a:pt x="2297075" y="1729711"/>
                    <a:pt x="2255232" y="1729711"/>
                  </a:cubicBezTo>
                  <a:lnTo>
                    <a:pt x="157768" y="1729711"/>
                  </a:lnTo>
                  <a:cubicBezTo>
                    <a:pt x="115925" y="1729711"/>
                    <a:pt x="75796" y="1713089"/>
                    <a:pt x="46209" y="1683502"/>
                  </a:cubicBezTo>
                  <a:cubicBezTo>
                    <a:pt x="16622" y="1653914"/>
                    <a:pt x="0" y="1613785"/>
                    <a:pt x="0" y="1571943"/>
                  </a:cubicBezTo>
                  <a:lnTo>
                    <a:pt x="0" y="157768"/>
                  </a:lnTo>
                  <a:cubicBezTo>
                    <a:pt x="0" y="115925"/>
                    <a:pt x="16622" y="75796"/>
                    <a:pt x="46209" y="46209"/>
                  </a:cubicBezTo>
                  <a:cubicBezTo>
                    <a:pt x="75796" y="16622"/>
                    <a:pt x="115925" y="0"/>
                    <a:pt x="157768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13000" cy="1767811"/>
            </a:xfrm>
            <a:prstGeom prst="rect">
              <a:avLst/>
            </a:prstGeom>
          </p:spPr>
          <p:txBody>
            <a:bodyPr anchor="ctr" rtlCol="false" tIns="171751" lIns="171751" bIns="171751" rIns="171751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Kosongkan gradien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4519647" y="5051345"/>
            <a:ext cx="558190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5228119" y="4441650"/>
            <a:ext cx="2039541" cy="1432852"/>
            <a:chOff x="0" y="0"/>
            <a:chExt cx="2413000" cy="16952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13000" cy="1695221"/>
            </a:xfrm>
            <a:custGeom>
              <a:avLst/>
              <a:gdLst/>
              <a:ahLst/>
              <a:cxnLst/>
              <a:rect r="r" b="b" t="t" l="l"/>
              <a:pathLst>
                <a:path h="1695221" w="2413000">
                  <a:moveTo>
                    <a:pt x="157768" y="0"/>
                  </a:moveTo>
                  <a:lnTo>
                    <a:pt x="2255232" y="0"/>
                  </a:lnTo>
                  <a:cubicBezTo>
                    <a:pt x="2297075" y="0"/>
                    <a:pt x="2337204" y="16622"/>
                    <a:pt x="2366791" y="46209"/>
                  </a:cubicBezTo>
                  <a:cubicBezTo>
                    <a:pt x="2396378" y="75796"/>
                    <a:pt x="2413000" y="115925"/>
                    <a:pt x="2413000" y="157768"/>
                  </a:cubicBezTo>
                  <a:lnTo>
                    <a:pt x="2413000" y="1537453"/>
                  </a:lnTo>
                  <a:cubicBezTo>
                    <a:pt x="2413000" y="1579296"/>
                    <a:pt x="2396378" y="1619425"/>
                    <a:pt x="2366791" y="1649012"/>
                  </a:cubicBezTo>
                  <a:cubicBezTo>
                    <a:pt x="2337204" y="1678599"/>
                    <a:pt x="2297075" y="1695221"/>
                    <a:pt x="2255232" y="1695221"/>
                  </a:cubicBezTo>
                  <a:lnTo>
                    <a:pt x="157768" y="1695221"/>
                  </a:lnTo>
                  <a:cubicBezTo>
                    <a:pt x="115925" y="1695221"/>
                    <a:pt x="75796" y="1678599"/>
                    <a:pt x="46209" y="1649012"/>
                  </a:cubicBezTo>
                  <a:cubicBezTo>
                    <a:pt x="16622" y="1619425"/>
                    <a:pt x="0" y="1579296"/>
                    <a:pt x="0" y="1537453"/>
                  </a:cubicBezTo>
                  <a:lnTo>
                    <a:pt x="0" y="157768"/>
                  </a:lnTo>
                  <a:cubicBezTo>
                    <a:pt x="0" y="115925"/>
                    <a:pt x="16622" y="75796"/>
                    <a:pt x="46209" y="46209"/>
                  </a:cubicBezTo>
                  <a:cubicBezTo>
                    <a:pt x="75796" y="16622"/>
                    <a:pt x="115925" y="0"/>
                    <a:pt x="157768" y="0"/>
                  </a:cubicBezTo>
                  <a:close/>
                </a:path>
              </a:pathLst>
            </a:custGeom>
            <a:solidFill>
              <a:srgbClr val="303030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413000" cy="1733321"/>
            </a:xfrm>
            <a:prstGeom prst="rect">
              <a:avLst/>
            </a:prstGeom>
          </p:spPr>
          <p:txBody>
            <a:bodyPr anchor="ctr" rtlCol="false" tIns="171751" lIns="171751" bIns="171751" rIns="171751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Forward: rekonstruksi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7417942" y="5067858"/>
            <a:ext cx="558190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8126414" y="4441650"/>
            <a:ext cx="2039541" cy="1432852"/>
            <a:chOff x="0" y="0"/>
            <a:chExt cx="2413000" cy="16952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13000" cy="1695221"/>
            </a:xfrm>
            <a:custGeom>
              <a:avLst/>
              <a:gdLst/>
              <a:ahLst/>
              <a:cxnLst/>
              <a:rect r="r" b="b" t="t" l="l"/>
              <a:pathLst>
                <a:path h="1695221" w="2413000">
                  <a:moveTo>
                    <a:pt x="157768" y="0"/>
                  </a:moveTo>
                  <a:lnTo>
                    <a:pt x="2255232" y="0"/>
                  </a:lnTo>
                  <a:cubicBezTo>
                    <a:pt x="2297075" y="0"/>
                    <a:pt x="2337204" y="16622"/>
                    <a:pt x="2366791" y="46209"/>
                  </a:cubicBezTo>
                  <a:cubicBezTo>
                    <a:pt x="2396378" y="75796"/>
                    <a:pt x="2413000" y="115925"/>
                    <a:pt x="2413000" y="157768"/>
                  </a:cubicBezTo>
                  <a:lnTo>
                    <a:pt x="2413000" y="1537453"/>
                  </a:lnTo>
                  <a:cubicBezTo>
                    <a:pt x="2413000" y="1579296"/>
                    <a:pt x="2396378" y="1619425"/>
                    <a:pt x="2366791" y="1649012"/>
                  </a:cubicBezTo>
                  <a:cubicBezTo>
                    <a:pt x="2337204" y="1678599"/>
                    <a:pt x="2297075" y="1695221"/>
                    <a:pt x="2255232" y="1695221"/>
                  </a:cubicBezTo>
                  <a:lnTo>
                    <a:pt x="157768" y="1695221"/>
                  </a:lnTo>
                  <a:cubicBezTo>
                    <a:pt x="115925" y="1695221"/>
                    <a:pt x="75796" y="1678599"/>
                    <a:pt x="46209" y="1649012"/>
                  </a:cubicBezTo>
                  <a:cubicBezTo>
                    <a:pt x="16622" y="1619425"/>
                    <a:pt x="0" y="1579296"/>
                    <a:pt x="0" y="1537453"/>
                  </a:cubicBezTo>
                  <a:lnTo>
                    <a:pt x="0" y="157768"/>
                  </a:lnTo>
                  <a:cubicBezTo>
                    <a:pt x="0" y="115925"/>
                    <a:pt x="16622" y="75796"/>
                    <a:pt x="46209" y="46209"/>
                  </a:cubicBezTo>
                  <a:cubicBezTo>
                    <a:pt x="75796" y="16622"/>
                    <a:pt x="115925" y="0"/>
                    <a:pt x="157768" y="0"/>
                  </a:cubicBezTo>
                  <a:close/>
                </a:path>
              </a:pathLst>
            </a:custGeom>
            <a:solidFill>
              <a:srgbClr val="ADE2E2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413000" cy="1733321"/>
            </a:xfrm>
            <a:prstGeom prst="rect">
              <a:avLst/>
            </a:prstGeom>
          </p:spPr>
          <p:txBody>
            <a:bodyPr anchor="ctr" rtlCol="false" tIns="171751" lIns="171751" bIns="171751" rIns="171751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Hitung loss BCE + KL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0316237" y="5039855"/>
            <a:ext cx="558190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3923003" y="4441650"/>
            <a:ext cx="2039541" cy="1432852"/>
            <a:chOff x="0" y="0"/>
            <a:chExt cx="2413000" cy="16952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13000" cy="1695221"/>
            </a:xfrm>
            <a:custGeom>
              <a:avLst/>
              <a:gdLst/>
              <a:ahLst/>
              <a:cxnLst/>
              <a:rect r="r" b="b" t="t" l="l"/>
              <a:pathLst>
                <a:path h="1695221" w="2413000">
                  <a:moveTo>
                    <a:pt x="157768" y="0"/>
                  </a:moveTo>
                  <a:lnTo>
                    <a:pt x="2255232" y="0"/>
                  </a:lnTo>
                  <a:cubicBezTo>
                    <a:pt x="2297075" y="0"/>
                    <a:pt x="2337204" y="16622"/>
                    <a:pt x="2366791" y="46209"/>
                  </a:cubicBezTo>
                  <a:cubicBezTo>
                    <a:pt x="2396378" y="75796"/>
                    <a:pt x="2413000" y="115925"/>
                    <a:pt x="2413000" y="157768"/>
                  </a:cubicBezTo>
                  <a:lnTo>
                    <a:pt x="2413000" y="1537453"/>
                  </a:lnTo>
                  <a:cubicBezTo>
                    <a:pt x="2413000" y="1579296"/>
                    <a:pt x="2396378" y="1619425"/>
                    <a:pt x="2366791" y="1649012"/>
                  </a:cubicBezTo>
                  <a:cubicBezTo>
                    <a:pt x="2337204" y="1678599"/>
                    <a:pt x="2297075" y="1695221"/>
                    <a:pt x="2255232" y="1695221"/>
                  </a:cubicBezTo>
                  <a:lnTo>
                    <a:pt x="157768" y="1695221"/>
                  </a:lnTo>
                  <a:cubicBezTo>
                    <a:pt x="115925" y="1695221"/>
                    <a:pt x="75796" y="1678599"/>
                    <a:pt x="46209" y="1649012"/>
                  </a:cubicBezTo>
                  <a:cubicBezTo>
                    <a:pt x="16622" y="1619425"/>
                    <a:pt x="0" y="1579296"/>
                    <a:pt x="0" y="1537453"/>
                  </a:cubicBezTo>
                  <a:lnTo>
                    <a:pt x="0" y="157768"/>
                  </a:lnTo>
                  <a:cubicBezTo>
                    <a:pt x="0" y="115925"/>
                    <a:pt x="16622" y="75796"/>
                    <a:pt x="46209" y="46209"/>
                  </a:cubicBezTo>
                  <a:cubicBezTo>
                    <a:pt x="75796" y="16622"/>
                    <a:pt x="115925" y="0"/>
                    <a:pt x="157768" y="0"/>
                  </a:cubicBezTo>
                  <a:close/>
                </a:path>
              </a:pathLst>
            </a:custGeom>
            <a:solidFill>
              <a:srgbClr val="303030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413000" cy="1733321"/>
            </a:xfrm>
            <a:prstGeom prst="rect">
              <a:avLst/>
            </a:prstGeom>
          </p:spPr>
          <p:txBody>
            <a:bodyPr anchor="ctr" rtlCol="false" tIns="171751" lIns="171751" bIns="171751" rIns="171751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Optim</a:t>
              </a:r>
              <a:r>
                <a:rPr lang="en-US" b="true" sz="20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izer memperbarui bobot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24709" y="4441650"/>
            <a:ext cx="2039541" cy="1432852"/>
            <a:chOff x="0" y="0"/>
            <a:chExt cx="2413000" cy="16952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13000" cy="1695221"/>
            </a:xfrm>
            <a:custGeom>
              <a:avLst/>
              <a:gdLst/>
              <a:ahLst/>
              <a:cxnLst/>
              <a:rect r="r" b="b" t="t" l="l"/>
              <a:pathLst>
                <a:path h="1695221" w="2413000">
                  <a:moveTo>
                    <a:pt x="157768" y="0"/>
                  </a:moveTo>
                  <a:lnTo>
                    <a:pt x="2255232" y="0"/>
                  </a:lnTo>
                  <a:cubicBezTo>
                    <a:pt x="2297075" y="0"/>
                    <a:pt x="2337204" y="16622"/>
                    <a:pt x="2366791" y="46209"/>
                  </a:cubicBezTo>
                  <a:cubicBezTo>
                    <a:pt x="2396378" y="75796"/>
                    <a:pt x="2413000" y="115925"/>
                    <a:pt x="2413000" y="157768"/>
                  </a:cubicBezTo>
                  <a:lnTo>
                    <a:pt x="2413000" y="1537453"/>
                  </a:lnTo>
                  <a:cubicBezTo>
                    <a:pt x="2413000" y="1579296"/>
                    <a:pt x="2396378" y="1619425"/>
                    <a:pt x="2366791" y="1649012"/>
                  </a:cubicBezTo>
                  <a:cubicBezTo>
                    <a:pt x="2337204" y="1678599"/>
                    <a:pt x="2297075" y="1695221"/>
                    <a:pt x="2255232" y="1695221"/>
                  </a:cubicBezTo>
                  <a:lnTo>
                    <a:pt x="157768" y="1695221"/>
                  </a:lnTo>
                  <a:cubicBezTo>
                    <a:pt x="115925" y="1695221"/>
                    <a:pt x="75796" y="1678599"/>
                    <a:pt x="46209" y="1649012"/>
                  </a:cubicBezTo>
                  <a:cubicBezTo>
                    <a:pt x="16622" y="1619425"/>
                    <a:pt x="0" y="1579296"/>
                    <a:pt x="0" y="1537453"/>
                  </a:cubicBezTo>
                  <a:lnTo>
                    <a:pt x="0" y="157768"/>
                  </a:lnTo>
                  <a:cubicBezTo>
                    <a:pt x="0" y="115925"/>
                    <a:pt x="16622" y="75796"/>
                    <a:pt x="46209" y="46209"/>
                  </a:cubicBezTo>
                  <a:cubicBezTo>
                    <a:pt x="75796" y="16622"/>
                    <a:pt x="115925" y="0"/>
                    <a:pt x="157768" y="0"/>
                  </a:cubicBezTo>
                  <a:close/>
                </a:path>
              </a:pathLst>
            </a:custGeom>
            <a:solidFill>
              <a:srgbClr val="ADE2E2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413000" cy="1733321"/>
            </a:xfrm>
            <a:prstGeom prst="rect">
              <a:avLst/>
            </a:prstGeom>
          </p:spPr>
          <p:txBody>
            <a:bodyPr anchor="ctr" rtlCol="false" tIns="171751" lIns="171751" bIns="171751" rIns="171751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Backw</a:t>
              </a:r>
              <a:r>
                <a:rPr lang="en-US" b="true" sz="2000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ard: hitung gradien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3214531" y="5028365"/>
            <a:ext cx="558190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3136105" y="3847920"/>
            <a:ext cx="418243" cy="418243"/>
          </a:xfrm>
          <a:custGeom>
            <a:avLst/>
            <a:gdLst/>
            <a:ahLst/>
            <a:cxnLst/>
            <a:rect r="r" b="b" t="t" l="l"/>
            <a:pathLst>
              <a:path h="418243" w="418243">
                <a:moveTo>
                  <a:pt x="0" y="0"/>
                </a:moveTo>
                <a:lnTo>
                  <a:pt x="418243" y="0"/>
                </a:lnTo>
                <a:lnTo>
                  <a:pt x="418243" y="418243"/>
                </a:lnTo>
                <a:lnTo>
                  <a:pt x="0" y="418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038768" y="3847920"/>
            <a:ext cx="418243" cy="418243"/>
          </a:xfrm>
          <a:custGeom>
            <a:avLst/>
            <a:gdLst/>
            <a:ahLst/>
            <a:cxnLst/>
            <a:rect r="r" b="b" t="t" l="l"/>
            <a:pathLst>
              <a:path h="418243" w="418243">
                <a:moveTo>
                  <a:pt x="0" y="0"/>
                </a:moveTo>
                <a:lnTo>
                  <a:pt x="418243" y="0"/>
                </a:lnTo>
                <a:lnTo>
                  <a:pt x="418243" y="418243"/>
                </a:lnTo>
                <a:lnTo>
                  <a:pt x="0" y="418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937063" y="3847920"/>
            <a:ext cx="418243" cy="418243"/>
          </a:xfrm>
          <a:custGeom>
            <a:avLst/>
            <a:gdLst/>
            <a:ahLst/>
            <a:cxnLst/>
            <a:rect r="r" b="b" t="t" l="l"/>
            <a:pathLst>
              <a:path h="418243" w="418243">
                <a:moveTo>
                  <a:pt x="0" y="0"/>
                </a:moveTo>
                <a:lnTo>
                  <a:pt x="418243" y="0"/>
                </a:lnTo>
                <a:lnTo>
                  <a:pt x="418243" y="418243"/>
                </a:lnTo>
                <a:lnTo>
                  <a:pt x="0" y="4182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839851" y="3856908"/>
            <a:ext cx="409255" cy="409255"/>
          </a:xfrm>
          <a:custGeom>
            <a:avLst/>
            <a:gdLst/>
            <a:ahLst/>
            <a:cxnLst/>
            <a:rect r="r" b="b" t="t" l="l"/>
            <a:pathLst>
              <a:path h="409255" w="409255">
                <a:moveTo>
                  <a:pt x="0" y="0"/>
                </a:moveTo>
                <a:lnTo>
                  <a:pt x="409256" y="0"/>
                </a:lnTo>
                <a:lnTo>
                  <a:pt x="409256" y="409255"/>
                </a:lnTo>
                <a:lnTo>
                  <a:pt x="0" y="4092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734123" y="3856908"/>
            <a:ext cx="417301" cy="417301"/>
          </a:xfrm>
          <a:custGeom>
            <a:avLst/>
            <a:gdLst/>
            <a:ahLst/>
            <a:cxnLst/>
            <a:rect r="r" b="b" t="t" l="l"/>
            <a:pathLst>
              <a:path h="417301" w="417301">
                <a:moveTo>
                  <a:pt x="0" y="0"/>
                </a:moveTo>
                <a:lnTo>
                  <a:pt x="417301" y="0"/>
                </a:lnTo>
                <a:lnTo>
                  <a:pt x="417301" y="417300"/>
                </a:lnTo>
                <a:lnTo>
                  <a:pt x="0" y="4173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028700" y="2063017"/>
            <a:ext cx="485003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Car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 model dilatih di setiap batch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1301017"/>
            <a:ext cx="695724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Training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700000">
            <a:off x="-3785194" y="-1407028"/>
            <a:ext cx="8105898" cy="9961165"/>
          </a:xfrm>
          <a:custGeom>
            <a:avLst/>
            <a:gdLst/>
            <a:ahLst/>
            <a:cxnLst/>
            <a:rect r="r" b="b" t="t" l="l"/>
            <a:pathLst>
              <a:path h="9961165" w="8105898">
                <a:moveTo>
                  <a:pt x="8105898" y="0"/>
                </a:moveTo>
                <a:lnTo>
                  <a:pt x="0" y="0"/>
                </a:lnTo>
                <a:lnTo>
                  <a:pt x="0" y="9961166"/>
                </a:lnTo>
                <a:lnTo>
                  <a:pt x="8105898" y="9961166"/>
                </a:lnTo>
                <a:lnTo>
                  <a:pt x="8105898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40427" y="2577367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617391">
            <a:off x="13442722" y="6456055"/>
            <a:ext cx="7633157" cy="7661889"/>
          </a:xfrm>
          <a:custGeom>
            <a:avLst/>
            <a:gdLst/>
            <a:ahLst/>
            <a:cxnLst/>
            <a:rect r="r" b="b" t="t" l="l"/>
            <a:pathLst>
              <a:path h="7661889" w="7633157">
                <a:moveTo>
                  <a:pt x="0" y="0"/>
                </a:moveTo>
                <a:lnTo>
                  <a:pt x="7633156" y="0"/>
                </a:lnTo>
                <a:lnTo>
                  <a:pt x="7633156" y="7661890"/>
                </a:lnTo>
                <a:lnTo>
                  <a:pt x="0" y="766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60856" y="3028714"/>
            <a:ext cx="13966288" cy="3209401"/>
            <a:chOff x="0" y="0"/>
            <a:chExt cx="18621718" cy="427920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538126" cy="4017467"/>
              <a:chOff x="0" y="0"/>
              <a:chExt cx="2413000" cy="27399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13000" cy="2739910"/>
              </a:xfrm>
              <a:custGeom>
                <a:avLst/>
                <a:gdLst/>
                <a:ahLst/>
                <a:cxnLst/>
                <a:rect r="r" b="b" t="t" l="l"/>
                <a:pathLst>
                  <a:path h="2739910" w="2413000">
                    <a:moveTo>
                      <a:pt x="131529" y="0"/>
                    </a:moveTo>
                    <a:lnTo>
                      <a:pt x="2281471" y="0"/>
                    </a:lnTo>
                    <a:cubicBezTo>
                      <a:pt x="2354113" y="0"/>
                      <a:pt x="2413000" y="58887"/>
                      <a:pt x="2413000" y="131529"/>
                    </a:cubicBezTo>
                    <a:lnTo>
                      <a:pt x="2413000" y="2608381"/>
                    </a:lnTo>
                    <a:cubicBezTo>
                      <a:pt x="2413000" y="2681023"/>
                      <a:pt x="2354113" y="2739910"/>
                      <a:pt x="2281471" y="2739910"/>
                    </a:cubicBezTo>
                    <a:lnTo>
                      <a:pt x="131529" y="2739910"/>
                    </a:lnTo>
                    <a:cubicBezTo>
                      <a:pt x="58887" y="2739910"/>
                      <a:pt x="0" y="2681023"/>
                      <a:pt x="0" y="2608381"/>
                    </a:cubicBezTo>
                    <a:lnTo>
                      <a:pt x="0" y="131529"/>
                    </a:lnTo>
                    <a:cubicBezTo>
                      <a:pt x="0" y="58887"/>
                      <a:pt x="58887" y="0"/>
                      <a:pt x="131529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413000" cy="2768485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just">
                  <a:lnSpc>
                    <a:spcPts val="2799"/>
                  </a:lnSpc>
                </a:pPr>
                <a:r>
                  <a:rPr lang="en-US" sz="1999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Tahap 1</a:t>
                </a:r>
              </a:p>
              <a:p>
                <a:pPr algn="just">
                  <a:lnSpc>
                    <a:spcPts val="2799"/>
                  </a:lnSpc>
                </a:pPr>
              </a:p>
              <a:p>
                <a:pPr algn="just">
                  <a:lnSpc>
                    <a:spcPts val="4339"/>
                  </a:lnSpc>
                </a:pPr>
                <a:r>
                  <a:rPr lang="en-US" sz="3099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Baseline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Konfigurasi awal, 50 epoch, sebagai pembanding</a:t>
                </a:r>
              </a:p>
              <a:p>
                <a:pPr algn="just">
                  <a:lnSpc>
                    <a:spcPts val="2799"/>
                  </a:lnSpc>
                </a:pP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3798830" y="1781921"/>
              <a:ext cx="968329" cy="0"/>
            </a:xfrm>
            <a:prstGeom prst="line">
              <a:avLst/>
            </a:prstGeom>
            <a:ln cap="flat" w="41327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5027864" y="0"/>
              <a:ext cx="3538126" cy="4017467"/>
              <a:chOff x="0" y="0"/>
              <a:chExt cx="2413000" cy="273991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13000" cy="2739910"/>
              </a:xfrm>
              <a:custGeom>
                <a:avLst/>
                <a:gdLst/>
                <a:ahLst/>
                <a:cxnLst/>
                <a:rect r="r" b="b" t="t" l="l"/>
                <a:pathLst>
                  <a:path h="2739910" w="2413000">
                    <a:moveTo>
                      <a:pt x="131529" y="0"/>
                    </a:moveTo>
                    <a:lnTo>
                      <a:pt x="2281471" y="0"/>
                    </a:lnTo>
                    <a:cubicBezTo>
                      <a:pt x="2354113" y="0"/>
                      <a:pt x="2413000" y="58887"/>
                      <a:pt x="2413000" y="131529"/>
                    </a:cubicBezTo>
                    <a:lnTo>
                      <a:pt x="2413000" y="2608381"/>
                    </a:lnTo>
                    <a:cubicBezTo>
                      <a:pt x="2413000" y="2681023"/>
                      <a:pt x="2354113" y="2739910"/>
                      <a:pt x="2281471" y="2739910"/>
                    </a:cubicBezTo>
                    <a:lnTo>
                      <a:pt x="131529" y="2739910"/>
                    </a:lnTo>
                    <a:cubicBezTo>
                      <a:pt x="58887" y="2739910"/>
                      <a:pt x="0" y="2681023"/>
                      <a:pt x="0" y="2608381"/>
                    </a:cubicBezTo>
                    <a:lnTo>
                      <a:pt x="0" y="131529"/>
                    </a:lnTo>
                    <a:cubicBezTo>
                      <a:pt x="0" y="58887"/>
                      <a:pt x="58887" y="0"/>
                      <a:pt x="131529" y="0"/>
                    </a:cubicBezTo>
                    <a:close/>
                  </a:path>
                </a:pathLst>
              </a:custGeom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413000" cy="2768485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just">
                  <a:lnSpc>
                    <a:spcPts val="2799"/>
                  </a:lnSpc>
                </a:pPr>
                <a:r>
                  <a:rPr lang="en-US" b="true" sz="1999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Tahap 2</a:t>
                </a:r>
              </a:p>
              <a:p>
                <a:pPr algn="just">
                  <a:lnSpc>
                    <a:spcPts val="2799"/>
                  </a:lnSpc>
                </a:pPr>
              </a:p>
              <a:p>
                <a:pPr algn="just">
                  <a:lnSpc>
                    <a:spcPts val="4339"/>
                  </a:lnSpc>
                </a:pPr>
                <a:r>
                  <a:rPr lang="en-US" b="true" sz="3099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Grid Search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72 k</a:t>
                </a:r>
                <a:r>
                  <a:rPr lang="en-US" sz="1999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ombinasi, masing-masing 10 epoch</a:t>
                </a:r>
              </a:p>
              <a:p>
                <a:pPr algn="just">
                  <a:lnSpc>
                    <a:spcPts val="2799"/>
                  </a:lnSpc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>
              <a:off x="8826694" y="1702237"/>
              <a:ext cx="968329" cy="0"/>
            </a:xfrm>
            <a:prstGeom prst="line">
              <a:avLst/>
            </a:prstGeom>
            <a:ln cap="flat" w="41327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15083591" y="0"/>
              <a:ext cx="3538126" cy="4017467"/>
              <a:chOff x="0" y="0"/>
              <a:chExt cx="2413000" cy="273991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13000" cy="2739910"/>
              </a:xfrm>
              <a:custGeom>
                <a:avLst/>
                <a:gdLst/>
                <a:ahLst/>
                <a:cxnLst/>
                <a:rect r="r" b="b" t="t" l="l"/>
                <a:pathLst>
                  <a:path h="2739910" w="2413000">
                    <a:moveTo>
                      <a:pt x="131529" y="0"/>
                    </a:moveTo>
                    <a:lnTo>
                      <a:pt x="2281471" y="0"/>
                    </a:lnTo>
                    <a:cubicBezTo>
                      <a:pt x="2354113" y="0"/>
                      <a:pt x="2413000" y="58887"/>
                      <a:pt x="2413000" y="131529"/>
                    </a:cubicBezTo>
                    <a:lnTo>
                      <a:pt x="2413000" y="2608381"/>
                    </a:lnTo>
                    <a:cubicBezTo>
                      <a:pt x="2413000" y="2681023"/>
                      <a:pt x="2354113" y="2739910"/>
                      <a:pt x="2281471" y="2739910"/>
                    </a:cubicBezTo>
                    <a:lnTo>
                      <a:pt x="131529" y="2739910"/>
                    </a:lnTo>
                    <a:cubicBezTo>
                      <a:pt x="58887" y="2739910"/>
                      <a:pt x="0" y="2681023"/>
                      <a:pt x="0" y="2608381"/>
                    </a:cubicBezTo>
                    <a:lnTo>
                      <a:pt x="0" y="131529"/>
                    </a:lnTo>
                    <a:cubicBezTo>
                      <a:pt x="0" y="58887"/>
                      <a:pt x="58887" y="0"/>
                      <a:pt x="131529" y="0"/>
                    </a:cubicBezTo>
                    <a:close/>
                  </a:path>
                </a:pathLst>
              </a:custGeom>
              <a:solidFill>
                <a:srgbClr val="303030"/>
              </a:solidFill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413000" cy="2768485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just">
                  <a:lnSpc>
                    <a:spcPts val="2799"/>
                  </a:lnSpc>
                </a:pPr>
                <a:r>
                  <a:rPr lang="en-US" sz="1999" b="true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Terpilih</a:t>
                </a:r>
              </a:p>
              <a:p>
                <a:pPr algn="just">
                  <a:lnSpc>
                    <a:spcPts val="2799"/>
                  </a:lnSpc>
                </a:pPr>
              </a:p>
              <a:p>
                <a:pPr algn="just">
                  <a:lnSpc>
                    <a:spcPts val="4339"/>
                  </a:lnSpc>
                </a:pPr>
                <a:r>
                  <a:rPr lang="en-US" sz="3099" b="true">
                    <a:solidFill>
                      <a:srgbClr val="FFFFFF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GS_067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>
                    <a:solidFill>
                      <a:srgbClr val="FFFFFF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Val loss 101,94</a:t>
                </a:r>
              </a:p>
              <a:p>
                <a:pPr algn="just">
                  <a:lnSpc>
                    <a:spcPts val="2799"/>
                  </a:lnSpc>
                </a:pPr>
              </a:p>
              <a:p>
                <a:pPr algn="just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0055728" y="0"/>
              <a:ext cx="3538126" cy="4279202"/>
              <a:chOff x="0" y="0"/>
              <a:chExt cx="2413000" cy="291841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13000" cy="2918413"/>
              </a:xfrm>
              <a:custGeom>
                <a:avLst/>
                <a:gdLst/>
                <a:ahLst/>
                <a:cxnLst/>
                <a:rect r="r" b="b" t="t" l="l"/>
                <a:pathLst>
                  <a:path h="2918413" w="2413000">
                    <a:moveTo>
                      <a:pt x="131529" y="0"/>
                    </a:moveTo>
                    <a:lnTo>
                      <a:pt x="2281471" y="0"/>
                    </a:lnTo>
                    <a:cubicBezTo>
                      <a:pt x="2354113" y="0"/>
                      <a:pt x="2413000" y="58887"/>
                      <a:pt x="2413000" y="131529"/>
                    </a:cubicBezTo>
                    <a:lnTo>
                      <a:pt x="2413000" y="2786885"/>
                    </a:lnTo>
                    <a:cubicBezTo>
                      <a:pt x="2413000" y="2859526"/>
                      <a:pt x="2354113" y="2918413"/>
                      <a:pt x="2281471" y="2918413"/>
                    </a:cubicBezTo>
                    <a:lnTo>
                      <a:pt x="131529" y="2918413"/>
                    </a:lnTo>
                    <a:cubicBezTo>
                      <a:pt x="58887" y="2918413"/>
                      <a:pt x="0" y="2859526"/>
                      <a:pt x="0" y="2786885"/>
                    </a:cubicBezTo>
                    <a:lnTo>
                      <a:pt x="0" y="131529"/>
                    </a:lnTo>
                    <a:cubicBezTo>
                      <a:pt x="0" y="58887"/>
                      <a:pt x="58887" y="0"/>
                      <a:pt x="131529" y="0"/>
                    </a:cubicBezTo>
                    <a:close/>
                  </a:path>
                </a:pathLst>
              </a:custGeom>
              <a:ln w="19050" cap="sq">
                <a:solidFill>
                  <a:srgbClr val="30303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413000" cy="2946988"/>
              </a:xfrm>
              <a:prstGeom prst="rect">
                <a:avLst/>
              </a:prstGeom>
            </p:spPr>
            <p:txBody>
              <a:bodyPr anchor="ctr" rtlCol="false" tIns="152400" lIns="152400" bIns="152400" rIns="152400"/>
              <a:lstStyle/>
              <a:p>
                <a:pPr algn="just">
                  <a:lnSpc>
                    <a:spcPts val="2799"/>
                  </a:lnSpc>
                </a:pPr>
                <a:r>
                  <a:rPr lang="en-US" sz="1999" b="true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T</a:t>
                </a:r>
                <a:r>
                  <a:rPr lang="en-US" b="true" sz="1999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ahap 3</a:t>
                </a:r>
              </a:p>
              <a:p>
                <a:pPr algn="just">
                  <a:lnSpc>
                    <a:spcPts val="2799"/>
                  </a:lnSpc>
                </a:pPr>
              </a:p>
              <a:p>
                <a:pPr algn="just">
                  <a:lnSpc>
                    <a:spcPts val="4339"/>
                  </a:lnSpc>
                </a:pPr>
                <a:r>
                  <a:rPr lang="en-US" b="true" sz="3099">
                    <a:solidFill>
                      <a:srgbClr val="303030"/>
                    </a:solidFill>
                    <a:latin typeface="Helvetica Now Display Bold"/>
                    <a:ea typeface="Helvetica Now Display Bold"/>
                    <a:cs typeface="Helvetica Now Display Bold"/>
                    <a:sym typeface="Helvetica Now Display Bold"/>
                  </a:rPr>
                  <a:t>Training Ulang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>
                    <a:solidFill>
                      <a:srgbClr val="303030"/>
                    </a:solidFill>
                    <a:latin typeface="Helvetica Now Display"/>
                    <a:ea typeface="Helvetica Now Display"/>
                    <a:cs typeface="Helvetica Now Display"/>
                    <a:sym typeface="Helvetica Now Display"/>
                  </a:rPr>
                  <a:t>5 terbaik, maks. 50 epoch, early stopping</a:t>
                </a:r>
              </a:p>
              <a:p>
                <a:pPr algn="just">
                  <a:lnSpc>
                    <a:spcPts val="2799"/>
                  </a:lnSpc>
                </a:pPr>
              </a:p>
            </p:txBody>
          </p:sp>
        </p:grpSp>
        <p:sp>
          <p:nvSpPr>
            <p:cNvPr name="AutoShape 20" id="20"/>
            <p:cNvSpPr/>
            <p:nvPr/>
          </p:nvSpPr>
          <p:spPr>
            <a:xfrm>
              <a:off x="13854558" y="1669541"/>
              <a:ext cx="968329" cy="0"/>
            </a:xfrm>
            <a:prstGeom prst="line">
              <a:avLst/>
            </a:prstGeom>
            <a:ln cap="flat" w="41327">
              <a:solidFill>
                <a:srgbClr val="303030"/>
              </a:solidFill>
              <a:prstDash val="solid"/>
              <a:headEnd type="none" len="sm" w="sm"/>
              <a:tailEnd type="arrow" len="sm" w="med"/>
            </a:ln>
          </p:spPr>
        </p:sp>
      </p:grpSp>
      <p:graphicFrame>
        <p:nvGraphicFramePr>
          <p:cNvPr name="Object 21" id="21"/>
          <p:cNvGraphicFramePr/>
          <p:nvPr/>
        </p:nvGraphicFramePr>
        <p:xfrm>
          <a:off x="1550655" y="6504815"/>
          <a:ext cx="13030200" cy="3143250"/>
        </p:xfrm>
        <a:graphic>
          <a:graphicData uri="http://schemas.openxmlformats.org/presentationml/2006/ole">
            <p:oleObj imgW="15633700" imgH="5753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1057623" y="1000027"/>
            <a:ext cx="312996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lur pemilihan model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0427" y="1491517"/>
            <a:ext cx="7403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Training dan Tuning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56945" y="6504815"/>
            <a:ext cx="5870199" cy="2359112"/>
            <a:chOff x="0" y="0"/>
            <a:chExt cx="7826932" cy="3145482"/>
          </a:xfrm>
        </p:grpSpPr>
        <p:sp>
          <p:nvSpPr>
            <p:cNvPr name="AutoShape 25" id="25"/>
            <p:cNvSpPr/>
            <p:nvPr/>
          </p:nvSpPr>
          <p:spPr>
            <a:xfrm>
              <a:off x="0" y="1302300"/>
              <a:ext cx="7150798" cy="0"/>
            </a:xfrm>
            <a:prstGeom prst="line">
              <a:avLst/>
            </a:prstGeom>
            <a:ln cap="flat" w="26479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59888" y="123825"/>
              <a:ext cx="7278483" cy="1074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63"/>
                </a:lnSpc>
              </a:pPr>
              <a:r>
                <a:rPr lang="en-US" sz="5942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64 / 72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349537"/>
              <a:ext cx="7826932" cy="1795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8"/>
                </a:lnSpc>
              </a:pPr>
              <a:r>
                <a:rPr lang="en-US" sz="2606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kombinas</a:t>
              </a:r>
              <a:r>
                <a:rPr lang="en-US" sz="2606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i masih membaik di epoch ke-10, sehingga 5 terbaik dilatih ulang lebih lama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35835" y="-4685940"/>
            <a:ext cx="6799883" cy="6816926"/>
          </a:xfrm>
          <a:custGeom>
            <a:avLst/>
            <a:gdLst/>
            <a:ahLst/>
            <a:cxnLst/>
            <a:rect r="r" b="b" t="t" l="l"/>
            <a:pathLst>
              <a:path h="6816926" w="6799883">
                <a:moveTo>
                  <a:pt x="0" y="0"/>
                </a:moveTo>
                <a:lnTo>
                  <a:pt x="6799884" y="0"/>
                </a:lnTo>
                <a:lnTo>
                  <a:pt x="6799884" y="6816925"/>
                </a:lnTo>
                <a:lnTo>
                  <a:pt x="0" y="6816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47180" y="-5686166"/>
            <a:ext cx="11121081" cy="8229600"/>
          </a:xfrm>
          <a:custGeom>
            <a:avLst/>
            <a:gdLst/>
            <a:ahLst/>
            <a:cxnLst/>
            <a:rect r="r" b="b" t="t" l="l"/>
            <a:pathLst>
              <a:path h="8229600" w="11121081">
                <a:moveTo>
                  <a:pt x="0" y="0"/>
                </a:moveTo>
                <a:lnTo>
                  <a:pt x="11121081" y="0"/>
                </a:lnTo>
                <a:lnTo>
                  <a:pt x="1112108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599780" y="2057400"/>
            <a:ext cx="11735615" cy="8229600"/>
          </a:xfrm>
          <a:custGeom>
            <a:avLst/>
            <a:gdLst/>
            <a:ahLst/>
            <a:cxnLst/>
            <a:rect r="r" b="b" t="t" l="l"/>
            <a:pathLst>
              <a:path h="8229600" w="11735615">
                <a:moveTo>
                  <a:pt x="0" y="0"/>
                </a:moveTo>
                <a:lnTo>
                  <a:pt x="11735615" y="0"/>
                </a:lnTo>
                <a:lnTo>
                  <a:pt x="117356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17094" y="6020035"/>
            <a:ext cx="155667" cy="152165"/>
          </a:xfrm>
          <a:custGeom>
            <a:avLst/>
            <a:gdLst/>
            <a:ahLst/>
            <a:cxnLst/>
            <a:rect r="r" b="b" t="t" l="l"/>
            <a:pathLst>
              <a:path h="152165" w="155667">
                <a:moveTo>
                  <a:pt x="0" y="0"/>
                </a:moveTo>
                <a:lnTo>
                  <a:pt x="155667" y="0"/>
                </a:lnTo>
                <a:lnTo>
                  <a:pt x="155667" y="152165"/>
                </a:lnTo>
                <a:lnTo>
                  <a:pt x="0" y="152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7094" y="7107727"/>
            <a:ext cx="155667" cy="155667"/>
          </a:xfrm>
          <a:custGeom>
            <a:avLst/>
            <a:gdLst/>
            <a:ahLst/>
            <a:cxnLst/>
            <a:rect r="r" b="b" t="t" l="l"/>
            <a:pathLst>
              <a:path h="155667" w="155667">
                <a:moveTo>
                  <a:pt x="0" y="0"/>
                </a:moveTo>
                <a:lnTo>
                  <a:pt x="155667" y="0"/>
                </a:lnTo>
                <a:lnTo>
                  <a:pt x="155667" y="155667"/>
                </a:lnTo>
                <a:lnTo>
                  <a:pt x="0" y="155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8555676" y="3098396"/>
          <a:ext cx="11587162" cy="4400550"/>
        </p:xfrm>
        <a:graphic>
          <a:graphicData uri="http://schemas.openxmlformats.org/presentationml/2006/ole">
            <p:oleObj imgW="13906500" imgH="67056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85850" y="2871701"/>
            <a:ext cx="549413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Training Baseline sebagai pembanding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26968"/>
            <a:ext cx="7526976" cy="110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0"/>
              </a:lnSpc>
            </a:pPr>
            <a:r>
              <a:rPr lang="en-US" sz="8300" spc="-332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Tahap 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5850" y="3874374"/>
            <a:ext cx="4901013" cy="2147634"/>
            <a:chOff x="0" y="0"/>
            <a:chExt cx="4456650" cy="19529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56650" cy="1952913"/>
            </a:xfrm>
            <a:custGeom>
              <a:avLst/>
              <a:gdLst/>
              <a:ahLst/>
              <a:cxnLst/>
              <a:rect r="r" b="b" t="t" l="l"/>
              <a:pathLst>
                <a:path h="1952913" w="4456650">
                  <a:moveTo>
                    <a:pt x="70344" y="0"/>
                  </a:moveTo>
                  <a:lnTo>
                    <a:pt x="4386306" y="0"/>
                  </a:lnTo>
                  <a:cubicBezTo>
                    <a:pt x="4404963" y="0"/>
                    <a:pt x="4422855" y="7411"/>
                    <a:pt x="4436047" y="20603"/>
                  </a:cubicBezTo>
                  <a:cubicBezTo>
                    <a:pt x="4449239" y="33795"/>
                    <a:pt x="4456650" y="51688"/>
                    <a:pt x="4456650" y="70344"/>
                  </a:cubicBezTo>
                  <a:lnTo>
                    <a:pt x="4456650" y="1882569"/>
                  </a:lnTo>
                  <a:cubicBezTo>
                    <a:pt x="4456650" y="1901226"/>
                    <a:pt x="4449239" y="1919118"/>
                    <a:pt x="4436047" y="1932310"/>
                  </a:cubicBezTo>
                  <a:cubicBezTo>
                    <a:pt x="4422855" y="1945502"/>
                    <a:pt x="4404963" y="1952913"/>
                    <a:pt x="4386306" y="1952913"/>
                  </a:cubicBezTo>
                  <a:lnTo>
                    <a:pt x="70344" y="1952913"/>
                  </a:lnTo>
                  <a:cubicBezTo>
                    <a:pt x="51688" y="1952913"/>
                    <a:pt x="33795" y="1945502"/>
                    <a:pt x="20603" y="1932310"/>
                  </a:cubicBezTo>
                  <a:cubicBezTo>
                    <a:pt x="7411" y="1919118"/>
                    <a:pt x="0" y="1901226"/>
                    <a:pt x="0" y="1882569"/>
                  </a:cubicBezTo>
                  <a:lnTo>
                    <a:pt x="0" y="70344"/>
                  </a:lnTo>
                  <a:cubicBezTo>
                    <a:pt x="0" y="51688"/>
                    <a:pt x="7411" y="33795"/>
                    <a:pt x="20603" y="20603"/>
                  </a:cubicBezTo>
                  <a:cubicBezTo>
                    <a:pt x="33795" y="7411"/>
                    <a:pt x="51688" y="0"/>
                    <a:pt x="70344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456650" cy="1981488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299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VALIDATION LOSS</a:t>
              </a:r>
            </a:p>
            <a:p>
              <a:pPr algn="l">
                <a:lnSpc>
                  <a:spcPts val="2719"/>
                </a:lnSpc>
              </a:pPr>
            </a:p>
            <a:p>
              <a:pPr algn="l">
                <a:lnSpc>
                  <a:spcPts val="5031"/>
                </a:lnSpc>
              </a:pPr>
              <a:r>
                <a:rPr lang="en-US" sz="3699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182,97 → 154,25</a:t>
              </a:r>
            </a:p>
            <a:p>
              <a:pPr algn="l">
                <a:lnSpc>
                  <a:spcPts val="2834"/>
                </a:lnSpc>
              </a:pP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epoch 1 → epoch 50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5850" y="6326808"/>
            <a:ext cx="4901013" cy="1838888"/>
            <a:chOff x="0" y="0"/>
            <a:chExt cx="4456650" cy="1672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56650" cy="1672161"/>
            </a:xfrm>
            <a:custGeom>
              <a:avLst/>
              <a:gdLst/>
              <a:ahLst/>
              <a:cxnLst/>
              <a:rect r="r" b="b" t="t" l="l"/>
              <a:pathLst>
                <a:path h="1672161" w="4456650">
                  <a:moveTo>
                    <a:pt x="70344" y="0"/>
                  </a:moveTo>
                  <a:lnTo>
                    <a:pt x="4386306" y="0"/>
                  </a:lnTo>
                  <a:cubicBezTo>
                    <a:pt x="4404963" y="0"/>
                    <a:pt x="4422855" y="7411"/>
                    <a:pt x="4436047" y="20603"/>
                  </a:cubicBezTo>
                  <a:cubicBezTo>
                    <a:pt x="4449239" y="33795"/>
                    <a:pt x="4456650" y="51688"/>
                    <a:pt x="4456650" y="70344"/>
                  </a:cubicBezTo>
                  <a:lnTo>
                    <a:pt x="4456650" y="1601817"/>
                  </a:lnTo>
                  <a:cubicBezTo>
                    <a:pt x="4456650" y="1620473"/>
                    <a:pt x="4449239" y="1638365"/>
                    <a:pt x="4436047" y="1651558"/>
                  </a:cubicBezTo>
                  <a:cubicBezTo>
                    <a:pt x="4422855" y="1664750"/>
                    <a:pt x="4404963" y="1672161"/>
                    <a:pt x="4386306" y="1672161"/>
                  </a:cubicBezTo>
                  <a:lnTo>
                    <a:pt x="70344" y="1672161"/>
                  </a:lnTo>
                  <a:cubicBezTo>
                    <a:pt x="51688" y="1672161"/>
                    <a:pt x="33795" y="1664750"/>
                    <a:pt x="20603" y="1651558"/>
                  </a:cubicBezTo>
                  <a:cubicBezTo>
                    <a:pt x="7411" y="1638365"/>
                    <a:pt x="0" y="1620473"/>
                    <a:pt x="0" y="1601817"/>
                  </a:cubicBezTo>
                  <a:lnTo>
                    <a:pt x="0" y="70344"/>
                  </a:lnTo>
                  <a:cubicBezTo>
                    <a:pt x="0" y="51688"/>
                    <a:pt x="7411" y="33795"/>
                    <a:pt x="20603" y="20603"/>
                  </a:cubicBezTo>
                  <a:cubicBezTo>
                    <a:pt x="33795" y="7411"/>
                    <a:pt x="51688" y="0"/>
                    <a:pt x="703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80975"/>
              <a:ext cx="4456650" cy="1853136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453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KENAPA SENGAJA KECIL</a:t>
              </a:r>
            </a:p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Titik</a:t>
              </a: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awal untuk mengukur seberapa besar hasil tuning membantu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88058" y="-4759526"/>
            <a:ext cx="6799883" cy="6816926"/>
          </a:xfrm>
          <a:custGeom>
            <a:avLst/>
            <a:gdLst/>
            <a:ahLst/>
            <a:cxnLst/>
            <a:rect r="r" b="b" t="t" l="l"/>
            <a:pathLst>
              <a:path h="6816926" w="6799883">
                <a:moveTo>
                  <a:pt x="0" y="0"/>
                </a:moveTo>
                <a:lnTo>
                  <a:pt x="6799884" y="0"/>
                </a:lnTo>
                <a:lnTo>
                  <a:pt x="6799884" y="6816926"/>
                </a:lnTo>
                <a:lnTo>
                  <a:pt x="0" y="6816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83479" y="3093700"/>
            <a:ext cx="11121081" cy="8229600"/>
          </a:xfrm>
          <a:custGeom>
            <a:avLst/>
            <a:gdLst/>
            <a:ahLst/>
            <a:cxnLst/>
            <a:rect r="r" b="b" t="t" l="l"/>
            <a:pathLst>
              <a:path h="8229600" w="11121081">
                <a:moveTo>
                  <a:pt x="0" y="0"/>
                </a:moveTo>
                <a:lnTo>
                  <a:pt x="11121081" y="0"/>
                </a:lnTo>
                <a:lnTo>
                  <a:pt x="1112108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599780" y="2057400"/>
            <a:ext cx="11735615" cy="8229600"/>
          </a:xfrm>
          <a:custGeom>
            <a:avLst/>
            <a:gdLst/>
            <a:ahLst/>
            <a:cxnLst/>
            <a:rect r="r" b="b" t="t" l="l"/>
            <a:pathLst>
              <a:path h="8229600" w="11735615">
                <a:moveTo>
                  <a:pt x="0" y="0"/>
                </a:moveTo>
                <a:lnTo>
                  <a:pt x="11735615" y="0"/>
                </a:lnTo>
                <a:lnTo>
                  <a:pt x="117356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17094" y="6020035"/>
            <a:ext cx="155667" cy="152165"/>
          </a:xfrm>
          <a:custGeom>
            <a:avLst/>
            <a:gdLst/>
            <a:ahLst/>
            <a:cxnLst/>
            <a:rect r="r" b="b" t="t" l="l"/>
            <a:pathLst>
              <a:path h="152165" w="155667">
                <a:moveTo>
                  <a:pt x="0" y="0"/>
                </a:moveTo>
                <a:lnTo>
                  <a:pt x="155667" y="0"/>
                </a:lnTo>
                <a:lnTo>
                  <a:pt x="155667" y="152165"/>
                </a:lnTo>
                <a:lnTo>
                  <a:pt x="0" y="152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7094" y="7107727"/>
            <a:ext cx="155667" cy="155667"/>
          </a:xfrm>
          <a:custGeom>
            <a:avLst/>
            <a:gdLst/>
            <a:ahLst/>
            <a:cxnLst/>
            <a:rect r="r" b="b" t="t" l="l"/>
            <a:pathLst>
              <a:path h="155667" w="155667">
                <a:moveTo>
                  <a:pt x="0" y="0"/>
                </a:moveTo>
                <a:lnTo>
                  <a:pt x="155667" y="0"/>
                </a:lnTo>
                <a:lnTo>
                  <a:pt x="155667" y="155667"/>
                </a:lnTo>
                <a:lnTo>
                  <a:pt x="0" y="155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098505" y="3041575"/>
            <a:ext cx="4901013" cy="2147634"/>
            <a:chOff x="0" y="0"/>
            <a:chExt cx="4456650" cy="1952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56650" cy="1952913"/>
            </a:xfrm>
            <a:custGeom>
              <a:avLst/>
              <a:gdLst/>
              <a:ahLst/>
              <a:cxnLst/>
              <a:rect r="r" b="b" t="t" l="l"/>
              <a:pathLst>
                <a:path h="1952913" w="4456650">
                  <a:moveTo>
                    <a:pt x="70344" y="0"/>
                  </a:moveTo>
                  <a:lnTo>
                    <a:pt x="4386306" y="0"/>
                  </a:lnTo>
                  <a:cubicBezTo>
                    <a:pt x="4404963" y="0"/>
                    <a:pt x="4422855" y="7411"/>
                    <a:pt x="4436047" y="20603"/>
                  </a:cubicBezTo>
                  <a:cubicBezTo>
                    <a:pt x="4449239" y="33795"/>
                    <a:pt x="4456650" y="51688"/>
                    <a:pt x="4456650" y="70344"/>
                  </a:cubicBezTo>
                  <a:lnTo>
                    <a:pt x="4456650" y="1882569"/>
                  </a:lnTo>
                  <a:cubicBezTo>
                    <a:pt x="4456650" y="1901226"/>
                    <a:pt x="4449239" y="1919118"/>
                    <a:pt x="4436047" y="1932310"/>
                  </a:cubicBezTo>
                  <a:cubicBezTo>
                    <a:pt x="4422855" y="1945502"/>
                    <a:pt x="4404963" y="1952913"/>
                    <a:pt x="4386306" y="1952913"/>
                  </a:cubicBezTo>
                  <a:lnTo>
                    <a:pt x="70344" y="1952913"/>
                  </a:lnTo>
                  <a:cubicBezTo>
                    <a:pt x="51688" y="1952913"/>
                    <a:pt x="33795" y="1945502"/>
                    <a:pt x="20603" y="1932310"/>
                  </a:cubicBezTo>
                  <a:cubicBezTo>
                    <a:pt x="7411" y="1919118"/>
                    <a:pt x="0" y="1901226"/>
                    <a:pt x="0" y="1882569"/>
                  </a:cubicBezTo>
                  <a:lnTo>
                    <a:pt x="0" y="70344"/>
                  </a:lnTo>
                  <a:cubicBezTo>
                    <a:pt x="0" y="51688"/>
                    <a:pt x="7411" y="33795"/>
                    <a:pt x="20603" y="20603"/>
                  </a:cubicBezTo>
                  <a:cubicBezTo>
                    <a:pt x="33795" y="7411"/>
                    <a:pt x="51688" y="0"/>
                    <a:pt x="70344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456650" cy="1981488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299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LATENT 2 → 16</a:t>
              </a:r>
            </a:p>
            <a:p>
              <a:pPr algn="l">
                <a:lnSpc>
                  <a:spcPts val="2719"/>
                </a:lnSpc>
              </a:pPr>
            </a:p>
            <a:p>
              <a:pPr algn="l">
                <a:lnSpc>
                  <a:spcPts val="5031"/>
                </a:lnSpc>
              </a:pPr>
              <a:r>
                <a:rPr lang="en-US" sz="3699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152,08 → 106,33</a:t>
              </a:r>
            </a:p>
            <a:p>
              <a:pPr algn="l">
                <a:lnSpc>
                  <a:spcPts val="2834"/>
                </a:lnSpc>
              </a:pP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BCE</a:t>
              </a: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turun tajam, KL naik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8505" y="5494009"/>
            <a:ext cx="4901013" cy="1838888"/>
            <a:chOff x="0" y="0"/>
            <a:chExt cx="4456650" cy="16721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56650" cy="1672161"/>
            </a:xfrm>
            <a:custGeom>
              <a:avLst/>
              <a:gdLst/>
              <a:ahLst/>
              <a:cxnLst/>
              <a:rect r="r" b="b" t="t" l="l"/>
              <a:pathLst>
                <a:path h="1672161" w="4456650">
                  <a:moveTo>
                    <a:pt x="70344" y="0"/>
                  </a:moveTo>
                  <a:lnTo>
                    <a:pt x="4386306" y="0"/>
                  </a:lnTo>
                  <a:cubicBezTo>
                    <a:pt x="4404963" y="0"/>
                    <a:pt x="4422855" y="7411"/>
                    <a:pt x="4436047" y="20603"/>
                  </a:cubicBezTo>
                  <a:cubicBezTo>
                    <a:pt x="4449239" y="33795"/>
                    <a:pt x="4456650" y="51688"/>
                    <a:pt x="4456650" y="70344"/>
                  </a:cubicBezTo>
                  <a:lnTo>
                    <a:pt x="4456650" y="1601817"/>
                  </a:lnTo>
                  <a:cubicBezTo>
                    <a:pt x="4456650" y="1620473"/>
                    <a:pt x="4449239" y="1638365"/>
                    <a:pt x="4436047" y="1651558"/>
                  </a:cubicBezTo>
                  <a:cubicBezTo>
                    <a:pt x="4422855" y="1664750"/>
                    <a:pt x="4404963" y="1672161"/>
                    <a:pt x="4386306" y="1672161"/>
                  </a:cubicBezTo>
                  <a:lnTo>
                    <a:pt x="70344" y="1672161"/>
                  </a:lnTo>
                  <a:cubicBezTo>
                    <a:pt x="51688" y="1672161"/>
                    <a:pt x="33795" y="1664750"/>
                    <a:pt x="20603" y="1651558"/>
                  </a:cubicBezTo>
                  <a:cubicBezTo>
                    <a:pt x="7411" y="1638365"/>
                    <a:pt x="0" y="1620473"/>
                    <a:pt x="0" y="1601817"/>
                  </a:cubicBezTo>
                  <a:lnTo>
                    <a:pt x="0" y="70344"/>
                  </a:lnTo>
                  <a:cubicBezTo>
                    <a:pt x="0" y="51688"/>
                    <a:pt x="7411" y="33795"/>
                    <a:pt x="20603" y="20603"/>
                  </a:cubicBezTo>
                  <a:cubicBezTo>
                    <a:pt x="33795" y="7411"/>
                    <a:pt x="51688" y="0"/>
                    <a:pt x="703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80975"/>
              <a:ext cx="4456650" cy="1853136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453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LEARNING RATE</a:t>
              </a:r>
            </a:p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0,001</a:t>
              </a: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terbaik (106,33). 0,0001 terlalu lambat (114,87).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2946325"/>
            <a:ext cx="9858283" cy="6548712"/>
            <a:chOff x="0" y="0"/>
            <a:chExt cx="6012902" cy="39942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12902" cy="3994282"/>
            </a:xfrm>
            <a:custGeom>
              <a:avLst/>
              <a:gdLst/>
              <a:ahLst/>
              <a:cxnLst/>
              <a:rect r="r" b="b" t="t" l="l"/>
              <a:pathLst>
                <a:path h="3994282" w="6012902">
                  <a:moveTo>
                    <a:pt x="34971" y="0"/>
                  </a:moveTo>
                  <a:lnTo>
                    <a:pt x="5977930" y="0"/>
                  </a:lnTo>
                  <a:cubicBezTo>
                    <a:pt x="5997245" y="0"/>
                    <a:pt x="6012902" y="15657"/>
                    <a:pt x="6012902" y="34971"/>
                  </a:cubicBezTo>
                  <a:lnTo>
                    <a:pt x="6012902" y="3959311"/>
                  </a:lnTo>
                  <a:cubicBezTo>
                    <a:pt x="6012902" y="3968586"/>
                    <a:pt x="6009218" y="3977481"/>
                    <a:pt x="6002659" y="3984039"/>
                  </a:cubicBezTo>
                  <a:cubicBezTo>
                    <a:pt x="5996101" y="3990598"/>
                    <a:pt x="5987205" y="3994282"/>
                    <a:pt x="5977930" y="3994282"/>
                  </a:cubicBezTo>
                  <a:lnTo>
                    <a:pt x="34971" y="3994282"/>
                  </a:lnTo>
                  <a:cubicBezTo>
                    <a:pt x="25696" y="3994282"/>
                    <a:pt x="16801" y="3990598"/>
                    <a:pt x="10243" y="3984039"/>
                  </a:cubicBezTo>
                  <a:cubicBezTo>
                    <a:pt x="3684" y="3977481"/>
                    <a:pt x="0" y="3968586"/>
                    <a:pt x="0" y="3959311"/>
                  </a:cubicBezTo>
                  <a:lnTo>
                    <a:pt x="0" y="34971"/>
                  </a:lnTo>
                  <a:cubicBezTo>
                    <a:pt x="0" y="25696"/>
                    <a:pt x="3684" y="16801"/>
                    <a:pt x="10243" y="10243"/>
                  </a:cubicBezTo>
                  <a:cubicBezTo>
                    <a:pt x="16801" y="3684"/>
                    <a:pt x="25696" y="0"/>
                    <a:pt x="34971" y="0"/>
                  </a:cubicBezTo>
                  <a:close/>
                </a:path>
              </a:pathLst>
            </a:custGeom>
            <a:solidFill>
              <a:srgbClr val="E8E8E8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012902" cy="4022857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2991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38396" y="3160842"/>
            <a:ext cx="9038891" cy="6022715"/>
          </a:xfrm>
          <a:custGeom>
            <a:avLst/>
            <a:gdLst/>
            <a:ahLst/>
            <a:cxnLst/>
            <a:rect r="r" b="b" t="t" l="l"/>
            <a:pathLst>
              <a:path h="6022715" w="9038891">
                <a:moveTo>
                  <a:pt x="0" y="0"/>
                </a:moveTo>
                <a:lnTo>
                  <a:pt x="9038891" y="0"/>
                </a:lnTo>
                <a:lnTo>
                  <a:pt x="9038891" y="6022716"/>
                </a:lnTo>
                <a:lnTo>
                  <a:pt x="0" y="60227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0427" y="2311960"/>
            <a:ext cx="549413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Latent dimension p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aling berpengaruh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0427" y="1253392"/>
            <a:ext cx="5384608" cy="110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0"/>
              </a:lnSpc>
            </a:pPr>
            <a:r>
              <a:rPr lang="en-US" sz="8300" spc="-332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Tahap 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98505" y="7637697"/>
            <a:ext cx="4901013" cy="1838888"/>
            <a:chOff x="0" y="0"/>
            <a:chExt cx="4456650" cy="1672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56650" cy="1672161"/>
            </a:xfrm>
            <a:custGeom>
              <a:avLst/>
              <a:gdLst/>
              <a:ahLst/>
              <a:cxnLst/>
              <a:rect r="r" b="b" t="t" l="l"/>
              <a:pathLst>
                <a:path h="1672161" w="4456650">
                  <a:moveTo>
                    <a:pt x="70344" y="0"/>
                  </a:moveTo>
                  <a:lnTo>
                    <a:pt x="4386306" y="0"/>
                  </a:lnTo>
                  <a:cubicBezTo>
                    <a:pt x="4404963" y="0"/>
                    <a:pt x="4422855" y="7411"/>
                    <a:pt x="4436047" y="20603"/>
                  </a:cubicBezTo>
                  <a:cubicBezTo>
                    <a:pt x="4449239" y="33795"/>
                    <a:pt x="4456650" y="51688"/>
                    <a:pt x="4456650" y="70344"/>
                  </a:cubicBezTo>
                  <a:lnTo>
                    <a:pt x="4456650" y="1601817"/>
                  </a:lnTo>
                  <a:cubicBezTo>
                    <a:pt x="4456650" y="1620473"/>
                    <a:pt x="4449239" y="1638365"/>
                    <a:pt x="4436047" y="1651558"/>
                  </a:cubicBezTo>
                  <a:cubicBezTo>
                    <a:pt x="4422855" y="1664750"/>
                    <a:pt x="4404963" y="1672161"/>
                    <a:pt x="4386306" y="1672161"/>
                  </a:cubicBezTo>
                  <a:lnTo>
                    <a:pt x="70344" y="1672161"/>
                  </a:lnTo>
                  <a:cubicBezTo>
                    <a:pt x="51688" y="1672161"/>
                    <a:pt x="33795" y="1664750"/>
                    <a:pt x="20603" y="1651558"/>
                  </a:cubicBezTo>
                  <a:cubicBezTo>
                    <a:pt x="7411" y="1638365"/>
                    <a:pt x="0" y="1620473"/>
                    <a:pt x="0" y="1601817"/>
                  </a:cubicBezTo>
                  <a:lnTo>
                    <a:pt x="0" y="70344"/>
                  </a:lnTo>
                  <a:cubicBezTo>
                    <a:pt x="0" y="51688"/>
                    <a:pt x="7411" y="33795"/>
                    <a:pt x="20603" y="20603"/>
                  </a:cubicBezTo>
                  <a:cubicBezTo>
                    <a:pt x="33795" y="7411"/>
                    <a:pt x="51688" y="0"/>
                    <a:pt x="703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80975"/>
              <a:ext cx="4456650" cy="1853136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453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HIDDEN DAN BATCH</a:t>
              </a:r>
            </a:p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Pengaruh kecil:</a:t>
              </a:r>
              <a:r>
                <a:rPr lang="en-US" sz="20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selisih 5,23 dan 0,32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243757">
            <a:off x="4512558" y="-2710517"/>
            <a:ext cx="16368992" cy="11683368"/>
          </a:xfrm>
          <a:custGeom>
            <a:avLst/>
            <a:gdLst/>
            <a:ahLst/>
            <a:cxnLst/>
            <a:rect r="r" b="b" t="t" l="l"/>
            <a:pathLst>
              <a:path h="11683368" w="16368992">
                <a:moveTo>
                  <a:pt x="16368992" y="0"/>
                </a:moveTo>
                <a:lnTo>
                  <a:pt x="0" y="0"/>
                </a:lnTo>
                <a:lnTo>
                  <a:pt x="0" y="11683368"/>
                </a:lnTo>
                <a:lnTo>
                  <a:pt x="16368992" y="11683368"/>
                </a:lnTo>
                <a:lnTo>
                  <a:pt x="16368992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276422">
            <a:off x="-2741532" y="1355209"/>
            <a:ext cx="17958148" cy="12817628"/>
          </a:xfrm>
          <a:custGeom>
            <a:avLst/>
            <a:gdLst/>
            <a:ahLst/>
            <a:cxnLst/>
            <a:rect r="r" b="b" t="t" l="l"/>
            <a:pathLst>
              <a:path h="12817628" w="17958148">
                <a:moveTo>
                  <a:pt x="17958148" y="0"/>
                </a:moveTo>
                <a:lnTo>
                  <a:pt x="0" y="0"/>
                </a:lnTo>
                <a:lnTo>
                  <a:pt x="0" y="12817628"/>
                </a:lnTo>
                <a:lnTo>
                  <a:pt x="17958148" y="12817628"/>
                </a:lnTo>
                <a:lnTo>
                  <a:pt x="17958148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94454" y="8552791"/>
            <a:ext cx="4458331" cy="715034"/>
            <a:chOff x="0" y="0"/>
            <a:chExt cx="5944441" cy="95337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944441" cy="953378"/>
              <a:chOff x="0" y="0"/>
              <a:chExt cx="1174211" cy="18832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74210" cy="188322"/>
              </a:xfrm>
              <a:custGeom>
                <a:avLst/>
                <a:gdLst/>
                <a:ahLst/>
                <a:cxnLst/>
                <a:rect r="r" b="b" t="t" l="l"/>
                <a:pathLst>
                  <a:path h="188322" w="1174210">
                    <a:moveTo>
                      <a:pt x="32994" y="0"/>
                    </a:moveTo>
                    <a:lnTo>
                      <a:pt x="1141217" y="0"/>
                    </a:lnTo>
                    <a:cubicBezTo>
                      <a:pt x="1159439" y="0"/>
                      <a:pt x="1174210" y="14772"/>
                      <a:pt x="1174210" y="32994"/>
                    </a:cubicBezTo>
                    <a:lnTo>
                      <a:pt x="1174210" y="155328"/>
                    </a:lnTo>
                    <a:cubicBezTo>
                      <a:pt x="1174210" y="173550"/>
                      <a:pt x="1159439" y="188322"/>
                      <a:pt x="1141217" y="188322"/>
                    </a:cubicBezTo>
                    <a:lnTo>
                      <a:pt x="32994" y="188322"/>
                    </a:lnTo>
                    <a:cubicBezTo>
                      <a:pt x="14772" y="188322"/>
                      <a:pt x="0" y="173550"/>
                      <a:pt x="0" y="155328"/>
                    </a:cubicBezTo>
                    <a:lnTo>
                      <a:pt x="0" y="32994"/>
                    </a:lnTo>
                    <a:cubicBezTo>
                      <a:pt x="0" y="14772"/>
                      <a:pt x="14772" y="0"/>
                      <a:pt x="32994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74211" cy="2264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770083" y="301429"/>
              <a:ext cx="4404275" cy="388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Se</a:t>
              </a:r>
              <a:r>
                <a:rPr lang="en-US" sz="21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mua kandidat membaik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14835" y="8552791"/>
            <a:ext cx="4458331" cy="715034"/>
            <a:chOff x="0" y="0"/>
            <a:chExt cx="5944441" cy="95337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944441" cy="953378"/>
              <a:chOff x="0" y="0"/>
              <a:chExt cx="1174211" cy="1883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74210" cy="188322"/>
              </a:xfrm>
              <a:custGeom>
                <a:avLst/>
                <a:gdLst/>
                <a:ahLst/>
                <a:cxnLst/>
                <a:rect r="r" b="b" t="t" l="l"/>
                <a:pathLst>
                  <a:path h="188322" w="1174210">
                    <a:moveTo>
                      <a:pt x="32994" y="0"/>
                    </a:moveTo>
                    <a:lnTo>
                      <a:pt x="1141217" y="0"/>
                    </a:lnTo>
                    <a:cubicBezTo>
                      <a:pt x="1159439" y="0"/>
                      <a:pt x="1174210" y="14772"/>
                      <a:pt x="1174210" y="32994"/>
                    </a:cubicBezTo>
                    <a:lnTo>
                      <a:pt x="1174210" y="155328"/>
                    </a:lnTo>
                    <a:cubicBezTo>
                      <a:pt x="1174210" y="173550"/>
                      <a:pt x="1159439" y="188322"/>
                      <a:pt x="1141217" y="188322"/>
                    </a:cubicBezTo>
                    <a:lnTo>
                      <a:pt x="32994" y="188322"/>
                    </a:lnTo>
                    <a:cubicBezTo>
                      <a:pt x="14772" y="188322"/>
                      <a:pt x="0" y="173550"/>
                      <a:pt x="0" y="155328"/>
                    </a:cubicBezTo>
                    <a:lnTo>
                      <a:pt x="0" y="32994"/>
                    </a:lnTo>
                    <a:cubicBezTo>
                      <a:pt x="0" y="14772"/>
                      <a:pt x="14772" y="0"/>
                      <a:pt x="32994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174211" cy="2264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13560" y="301429"/>
              <a:ext cx="5117320" cy="388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LR 0,005: </a:t>
              </a:r>
              <a:r>
                <a:rPr lang="en-US" sz="21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berhenti lebih awal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39369" y="8552791"/>
            <a:ext cx="4458331" cy="715034"/>
            <a:chOff x="0" y="0"/>
            <a:chExt cx="5944441" cy="95337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944441" cy="953378"/>
              <a:chOff x="0" y="0"/>
              <a:chExt cx="1174211" cy="18832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74210" cy="188322"/>
              </a:xfrm>
              <a:custGeom>
                <a:avLst/>
                <a:gdLst/>
                <a:ahLst/>
                <a:cxnLst/>
                <a:rect r="r" b="b" t="t" l="l"/>
                <a:pathLst>
                  <a:path h="188322" w="1174210">
                    <a:moveTo>
                      <a:pt x="32994" y="0"/>
                    </a:moveTo>
                    <a:lnTo>
                      <a:pt x="1141217" y="0"/>
                    </a:lnTo>
                    <a:cubicBezTo>
                      <a:pt x="1159439" y="0"/>
                      <a:pt x="1174210" y="14772"/>
                      <a:pt x="1174210" y="32994"/>
                    </a:cubicBezTo>
                    <a:lnTo>
                      <a:pt x="1174210" y="155328"/>
                    </a:lnTo>
                    <a:cubicBezTo>
                      <a:pt x="1174210" y="173550"/>
                      <a:pt x="1159439" y="188322"/>
                      <a:pt x="1141217" y="188322"/>
                    </a:cubicBezTo>
                    <a:lnTo>
                      <a:pt x="32994" y="188322"/>
                    </a:lnTo>
                    <a:cubicBezTo>
                      <a:pt x="14772" y="188322"/>
                      <a:pt x="0" y="173550"/>
                      <a:pt x="0" y="155328"/>
                    </a:cubicBezTo>
                    <a:lnTo>
                      <a:pt x="0" y="32994"/>
                    </a:lnTo>
                    <a:cubicBezTo>
                      <a:pt x="0" y="14772"/>
                      <a:pt x="14772" y="0"/>
                      <a:pt x="32994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174211" cy="2264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93976" y="301429"/>
              <a:ext cx="4756488" cy="388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21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GS_067</a:t>
              </a:r>
              <a:r>
                <a:rPr lang="en-US" sz="21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 tetap terbaik: 101,94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1919696"/>
            <a:ext cx="16230600" cy="6007953"/>
            <a:chOff x="0" y="0"/>
            <a:chExt cx="9899595" cy="36644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99594" cy="3664455"/>
            </a:xfrm>
            <a:custGeom>
              <a:avLst/>
              <a:gdLst/>
              <a:ahLst/>
              <a:cxnLst/>
              <a:rect r="r" b="b" t="t" l="l"/>
              <a:pathLst>
                <a:path h="3664455" w="9899594">
                  <a:moveTo>
                    <a:pt x="21241" y="0"/>
                  </a:moveTo>
                  <a:lnTo>
                    <a:pt x="9878353" y="0"/>
                  </a:lnTo>
                  <a:cubicBezTo>
                    <a:pt x="9883987" y="0"/>
                    <a:pt x="9889389" y="2238"/>
                    <a:pt x="9893373" y="6221"/>
                  </a:cubicBezTo>
                  <a:cubicBezTo>
                    <a:pt x="9897356" y="10205"/>
                    <a:pt x="9899594" y="15608"/>
                    <a:pt x="9899594" y="21241"/>
                  </a:cubicBezTo>
                  <a:lnTo>
                    <a:pt x="9899594" y="3643213"/>
                  </a:lnTo>
                  <a:cubicBezTo>
                    <a:pt x="9899594" y="3648847"/>
                    <a:pt x="9897356" y="3654250"/>
                    <a:pt x="9893373" y="3658233"/>
                  </a:cubicBezTo>
                  <a:cubicBezTo>
                    <a:pt x="9889389" y="3662217"/>
                    <a:pt x="9883987" y="3664455"/>
                    <a:pt x="9878353" y="3664455"/>
                  </a:cubicBezTo>
                  <a:lnTo>
                    <a:pt x="21241" y="3664455"/>
                  </a:lnTo>
                  <a:cubicBezTo>
                    <a:pt x="9510" y="3664455"/>
                    <a:pt x="0" y="3654945"/>
                    <a:pt x="0" y="3643213"/>
                  </a:cubicBezTo>
                  <a:lnTo>
                    <a:pt x="0" y="21241"/>
                  </a:lnTo>
                  <a:cubicBezTo>
                    <a:pt x="0" y="15608"/>
                    <a:pt x="2238" y="10205"/>
                    <a:pt x="6221" y="6221"/>
                  </a:cubicBezTo>
                  <a:cubicBezTo>
                    <a:pt x="10205" y="2238"/>
                    <a:pt x="15608" y="0"/>
                    <a:pt x="21241" y="0"/>
                  </a:cubicBezTo>
                  <a:close/>
                </a:path>
              </a:pathLst>
            </a:custGeom>
            <a:solidFill>
              <a:srgbClr val="E8E8E8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899595" cy="3693030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2991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90300" y="2122648"/>
            <a:ext cx="15707400" cy="5612778"/>
          </a:xfrm>
          <a:custGeom>
            <a:avLst/>
            <a:gdLst/>
            <a:ahLst/>
            <a:cxnLst/>
            <a:rect r="r" b="b" t="t" l="l"/>
            <a:pathLst>
              <a:path h="5612778" w="15707400">
                <a:moveTo>
                  <a:pt x="0" y="0"/>
                </a:moveTo>
                <a:lnTo>
                  <a:pt x="15707400" y="0"/>
                </a:lnTo>
                <a:lnTo>
                  <a:pt x="15707400" y="5612778"/>
                </a:lnTo>
                <a:lnTo>
                  <a:pt x="0" y="5612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419508" y="1199606"/>
            <a:ext cx="544898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ima kandidat terbaik dilatih lebih lama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26644" y="370931"/>
            <a:ext cx="603471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Training Ulang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32002">
            <a:off x="-1373557" y="4630828"/>
            <a:ext cx="14089354" cy="14512639"/>
          </a:xfrm>
          <a:custGeom>
            <a:avLst/>
            <a:gdLst/>
            <a:ahLst/>
            <a:cxnLst/>
            <a:rect r="r" b="b" t="t" l="l"/>
            <a:pathLst>
              <a:path h="14512639" w="14089354">
                <a:moveTo>
                  <a:pt x="0" y="14512639"/>
                </a:moveTo>
                <a:lnTo>
                  <a:pt x="14089354" y="14512639"/>
                </a:lnTo>
                <a:lnTo>
                  <a:pt x="14089354" y="0"/>
                </a:lnTo>
                <a:lnTo>
                  <a:pt x="0" y="0"/>
                </a:lnTo>
                <a:lnTo>
                  <a:pt x="0" y="14512639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51692" y="-4608244"/>
            <a:ext cx="6007608" cy="8229600"/>
          </a:xfrm>
          <a:custGeom>
            <a:avLst/>
            <a:gdLst/>
            <a:ahLst/>
            <a:cxnLst/>
            <a:rect r="r" b="b" t="t" l="l"/>
            <a:pathLst>
              <a:path h="8229600" w="6007608">
                <a:moveTo>
                  <a:pt x="0" y="0"/>
                </a:moveTo>
                <a:lnTo>
                  <a:pt x="6007608" y="0"/>
                </a:lnTo>
                <a:lnTo>
                  <a:pt x="60076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0143" y="7463002"/>
            <a:ext cx="3682724" cy="2396288"/>
          </a:xfrm>
          <a:custGeom>
            <a:avLst/>
            <a:gdLst/>
            <a:ahLst/>
            <a:cxnLst/>
            <a:rect r="r" b="b" t="t" l="l"/>
            <a:pathLst>
              <a:path h="2396288" w="3682724">
                <a:moveTo>
                  <a:pt x="0" y="0"/>
                </a:moveTo>
                <a:lnTo>
                  <a:pt x="3682724" y="0"/>
                </a:lnTo>
                <a:lnTo>
                  <a:pt x="3682724" y="2396288"/>
                </a:lnTo>
                <a:lnTo>
                  <a:pt x="0" y="239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077" t="-237562" r="0" b="-16853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5907" y="2450720"/>
            <a:ext cx="8127320" cy="4068586"/>
          </a:xfrm>
          <a:custGeom>
            <a:avLst/>
            <a:gdLst/>
            <a:ahLst/>
            <a:cxnLst/>
            <a:rect r="r" b="b" t="t" l="l"/>
            <a:pathLst>
              <a:path h="4068586" w="8127320">
                <a:moveTo>
                  <a:pt x="0" y="0"/>
                </a:moveTo>
                <a:lnTo>
                  <a:pt x="8127319" y="0"/>
                </a:lnTo>
                <a:lnTo>
                  <a:pt x="8127319" y="4068586"/>
                </a:lnTo>
                <a:lnTo>
                  <a:pt x="0" y="4068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99229" y="2450720"/>
            <a:ext cx="8122864" cy="4066355"/>
          </a:xfrm>
          <a:custGeom>
            <a:avLst/>
            <a:gdLst/>
            <a:ahLst/>
            <a:cxnLst/>
            <a:rect r="r" b="b" t="t" l="l"/>
            <a:pathLst>
              <a:path h="4066355" w="8122864">
                <a:moveTo>
                  <a:pt x="0" y="0"/>
                </a:moveTo>
                <a:lnTo>
                  <a:pt x="8122864" y="0"/>
                </a:lnTo>
                <a:lnTo>
                  <a:pt x="8122864" y="4066355"/>
                </a:lnTo>
                <a:lnTo>
                  <a:pt x="0" y="40663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21260" y="697398"/>
            <a:ext cx="424548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Hasil Training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8554" y="7456653"/>
            <a:ext cx="144112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299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154,25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7456653"/>
            <a:ext cx="1330697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299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101,94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480465"/>
            <a:ext cx="197985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V</a:t>
            </a:r>
            <a:r>
              <a:rPr lang="en-US" sz="21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al loss baseline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27605" y="7480465"/>
            <a:ext cx="191639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Val</a:t>
            </a:r>
            <a:r>
              <a:rPr lang="en-US" sz="21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 loss GS_067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573931" y="7285191"/>
            <a:ext cx="3685369" cy="784883"/>
            <a:chOff x="0" y="0"/>
            <a:chExt cx="4913825" cy="104651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913825" cy="1046511"/>
              <a:chOff x="0" y="0"/>
              <a:chExt cx="970632" cy="20671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70632" cy="206718"/>
              </a:xfrm>
              <a:custGeom>
                <a:avLst/>
                <a:gdLst/>
                <a:ahLst/>
                <a:cxnLst/>
                <a:rect r="r" b="b" t="t" l="l"/>
                <a:pathLst>
                  <a:path h="206718" w="970632">
                    <a:moveTo>
                      <a:pt x="103359" y="0"/>
                    </a:moveTo>
                    <a:lnTo>
                      <a:pt x="867273" y="0"/>
                    </a:lnTo>
                    <a:cubicBezTo>
                      <a:pt x="894686" y="0"/>
                      <a:pt x="920975" y="10890"/>
                      <a:pt x="940359" y="30273"/>
                    </a:cubicBezTo>
                    <a:cubicBezTo>
                      <a:pt x="959743" y="49657"/>
                      <a:pt x="970632" y="75947"/>
                      <a:pt x="970632" y="103359"/>
                    </a:cubicBezTo>
                    <a:lnTo>
                      <a:pt x="970632" y="103359"/>
                    </a:lnTo>
                    <a:cubicBezTo>
                      <a:pt x="970632" y="160443"/>
                      <a:pt x="924357" y="206718"/>
                      <a:pt x="867273" y="206718"/>
                    </a:cubicBezTo>
                    <a:lnTo>
                      <a:pt x="103359" y="206718"/>
                    </a:lnTo>
                    <a:cubicBezTo>
                      <a:pt x="46275" y="206718"/>
                      <a:pt x="0" y="160443"/>
                      <a:pt x="0" y="103359"/>
                    </a:cubicBezTo>
                    <a:lnTo>
                      <a:pt x="0" y="103359"/>
                    </a:lnTo>
                    <a:cubicBezTo>
                      <a:pt x="0" y="46275"/>
                      <a:pt x="46275" y="0"/>
                      <a:pt x="10335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70632" cy="244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90996" y="301429"/>
              <a:ext cx="3931834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0"/>
                </a:lnSpc>
              </a:pPr>
              <a:r>
                <a:rPr lang="en-US" sz="26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33,9%</a:t>
              </a:r>
              <a:r>
                <a:rPr lang="en-US" sz="26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 lebih rendah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243757">
            <a:off x="-7500046" y="-4812984"/>
            <a:ext cx="16368992" cy="11683368"/>
          </a:xfrm>
          <a:custGeom>
            <a:avLst/>
            <a:gdLst/>
            <a:ahLst/>
            <a:cxnLst/>
            <a:rect r="r" b="b" t="t" l="l"/>
            <a:pathLst>
              <a:path h="11683368" w="16368992">
                <a:moveTo>
                  <a:pt x="16368992" y="0"/>
                </a:moveTo>
                <a:lnTo>
                  <a:pt x="0" y="0"/>
                </a:lnTo>
                <a:lnTo>
                  <a:pt x="0" y="11683368"/>
                </a:lnTo>
                <a:lnTo>
                  <a:pt x="16368992" y="11683368"/>
                </a:lnTo>
                <a:lnTo>
                  <a:pt x="16368992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276422">
            <a:off x="-2741532" y="1355209"/>
            <a:ext cx="17958148" cy="12817628"/>
          </a:xfrm>
          <a:custGeom>
            <a:avLst/>
            <a:gdLst/>
            <a:ahLst/>
            <a:cxnLst/>
            <a:rect r="r" b="b" t="t" l="l"/>
            <a:pathLst>
              <a:path h="12817628" w="17958148">
                <a:moveTo>
                  <a:pt x="17958148" y="0"/>
                </a:moveTo>
                <a:lnTo>
                  <a:pt x="0" y="0"/>
                </a:lnTo>
                <a:lnTo>
                  <a:pt x="0" y="12817628"/>
                </a:lnTo>
                <a:lnTo>
                  <a:pt x="17958148" y="12817628"/>
                </a:lnTo>
                <a:lnTo>
                  <a:pt x="17958148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73019" y="8779638"/>
            <a:ext cx="3758176" cy="852193"/>
            <a:chOff x="0" y="0"/>
            <a:chExt cx="5010901" cy="113625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010901" cy="1136258"/>
              <a:chOff x="0" y="0"/>
              <a:chExt cx="989808" cy="22444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89808" cy="224446"/>
              </a:xfrm>
              <a:custGeom>
                <a:avLst/>
                <a:gdLst/>
                <a:ahLst/>
                <a:cxnLst/>
                <a:rect r="r" b="b" t="t" l="l"/>
                <a:pathLst>
                  <a:path h="224446" w="989808">
                    <a:moveTo>
                      <a:pt x="39140" y="0"/>
                    </a:moveTo>
                    <a:lnTo>
                      <a:pt x="950667" y="0"/>
                    </a:lnTo>
                    <a:cubicBezTo>
                      <a:pt x="961048" y="0"/>
                      <a:pt x="971004" y="4124"/>
                      <a:pt x="978344" y="11464"/>
                    </a:cubicBezTo>
                    <a:cubicBezTo>
                      <a:pt x="985684" y="18804"/>
                      <a:pt x="989808" y="28760"/>
                      <a:pt x="989808" y="39140"/>
                    </a:cubicBezTo>
                    <a:lnTo>
                      <a:pt x="989808" y="185306"/>
                    </a:lnTo>
                    <a:cubicBezTo>
                      <a:pt x="989808" y="195686"/>
                      <a:pt x="985684" y="205642"/>
                      <a:pt x="978344" y="212982"/>
                    </a:cubicBezTo>
                    <a:cubicBezTo>
                      <a:pt x="971004" y="220322"/>
                      <a:pt x="961048" y="224446"/>
                      <a:pt x="950667" y="224446"/>
                    </a:cubicBezTo>
                    <a:lnTo>
                      <a:pt x="39140" y="224446"/>
                    </a:lnTo>
                    <a:cubicBezTo>
                      <a:pt x="28760" y="224446"/>
                      <a:pt x="18804" y="220322"/>
                      <a:pt x="11464" y="212982"/>
                    </a:cubicBezTo>
                    <a:cubicBezTo>
                      <a:pt x="4124" y="205642"/>
                      <a:pt x="0" y="195686"/>
                      <a:pt x="0" y="185306"/>
                    </a:cubicBezTo>
                    <a:lnTo>
                      <a:pt x="0" y="39140"/>
                    </a:lnTo>
                    <a:cubicBezTo>
                      <a:pt x="0" y="28760"/>
                      <a:pt x="4124" y="18804"/>
                      <a:pt x="11464" y="11464"/>
                    </a:cubicBezTo>
                    <a:cubicBezTo>
                      <a:pt x="18804" y="4124"/>
                      <a:pt x="28760" y="0"/>
                      <a:pt x="3914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89808" cy="2625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797540" y="310954"/>
              <a:ext cx="3415821" cy="561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148,17</a:t>
              </a:r>
              <a:r>
                <a:rPr lang="en-US" sz="3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 → 78,56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919696"/>
            <a:ext cx="16230600" cy="6007953"/>
            <a:chOff x="0" y="0"/>
            <a:chExt cx="9899595" cy="36644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99594" cy="3664455"/>
            </a:xfrm>
            <a:custGeom>
              <a:avLst/>
              <a:gdLst/>
              <a:ahLst/>
              <a:cxnLst/>
              <a:rect r="r" b="b" t="t" l="l"/>
              <a:pathLst>
                <a:path h="3664455" w="9899594">
                  <a:moveTo>
                    <a:pt x="21241" y="0"/>
                  </a:moveTo>
                  <a:lnTo>
                    <a:pt x="9878353" y="0"/>
                  </a:lnTo>
                  <a:cubicBezTo>
                    <a:pt x="9883987" y="0"/>
                    <a:pt x="9889389" y="2238"/>
                    <a:pt x="9893373" y="6221"/>
                  </a:cubicBezTo>
                  <a:cubicBezTo>
                    <a:pt x="9897356" y="10205"/>
                    <a:pt x="9899594" y="15608"/>
                    <a:pt x="9899594" y="21241"/>
                  </a:cubicBezTo>
                  <a:lnTo>
                    <a:pt x="9899594" y="3643213"/>
                  </a:lnTo>
                  <a:cubicBezTo>
                    <a:pt x="9899594" y="3648847"/>
                    <a:pt x="9897356" y="3654250"/>
                    <a:pt x="9893373" y="3658233"/>
                  </a:cubicBezTo>
                  <a:cubicBezTo>
                    <a:pt x="9889389" y="3662217"/>
                    <a:pt x="9883987" y="3664455"/>
                    <a:pt x="9878353" y="3664455"/>
                  </a:cubicBezTo>
                  <a:lnTo>
                    <a:pt x="21241" y="3664455"/>
                  </a:lnTo>
                  <a:cubicBezTo>
                    <a:pt x="9510" y="3664455"/>
                    <a:pt x="0" y="3654945"/>
                    <a:pt x="0" y="3643213"/>
                  </a:cubicBezTo>
                  <a:lnTo>
                    <a:pt x="0" y="21241"/>
                  </a:lnTo>
                  <a:cubicBezTo>
                    <a:pt x="0" y="15608"/>
                    <a:pt x="2238" y="10205"/>
                    <a:pt x="6221" y="6221"/>
                  </a:cubicBezTo>
                  <a:cubicBezTo>
                    <a:pt x="10205" y="2238"/>
                    <a:pt x="15608" y="0"/>
                    <a:pt x="21241" y="0"/>
                  </a:cubicBezTo>
                  <a:close/>
                </a:path>
              </a:pathLst>
            </a:custGeom>
            <a:solidFill>
              <a:srgbClr val="E8E8E8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9899595" cy="3693030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299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32085" y="2132269"/>
            <a:ext cx="15623831" cy="5582808"/>
          </a:xfrm>
          <a:custGeom>
            <a:avLst/>
            <a:gdLst/>
            <a:ahLst/>
            <a:cxnLst/>
            <a:rect r="r" b="b" t="t" l="l"/>
            <a:pathLst>
              <a:path h="5582808" w="15623831">
                <a:moveTo>
                  <a:pt x="0" y="0"/>
                </a:moveTo>
                <a:lnTo>
                  <a:pt x="15623830" y="0"/>
                </a:lnTo>
                <a:lnTo>
                  <a:pt x="15623830" y="5582808"/>
                </a:lnTo>
                <a:lnTo>
                  <a:pt x="0" y="558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152107" y="893173"/>
            <a:ext cx="798378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Komponen BCE dan KL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411093" y="1702798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1256805" y="8832203"/>
            <a:ext cx="3758176" cy="852193"/>
            <a:chOff x="0" y="0"/>
            <a:chExt cx="5010901" cy="113625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010901" cy="1136258"/>
              <a:chOff x="0" y="0"/>
              <a:chExt cx="989808" cy="22444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89808" cy="224446"/>
              </a:xfrm>
              <a:custGeom>
                <a:avLst/>
                <a:gdLst/>
                <a:ahLst/>
                <a:cxnLst/>
                <a:rect r="r" b="b" t="t" l="l"/>
                <a:pathLst>
                  <a:path h="224446" w="989808">
                    <a:moveTo>
                      <a:pt x="39140" y="0"/>
                    </a:moveTo>
                    <a:lnTo>
                      <a:pt x="950667" y="0"/>
                    </a:lnTo>
                    <a:cubicBezTo>
                      <a:pt x="961048" y="0"/>
                      <a:pt x="971004" y="4124"/>
                      <a:pt x="978344" y="11464"/>
                    </a:cubicBezTo>
                    <a:cubicBezTo>
                      <a:pt x="985684" y="18804"/>
                      <a:pt x="989808" y="28760"/>
                      <a:pt x="989808" y="39140"/>
                    </a:cubicBezTo>
                    <a:lnTo>
                      <a:pt x="989808" y="185306"/>
                    </a:lnTo>
                    <a:cubicBezTo>
                      <a:pt x="989808" y="195686"/>
                      <a:pt x="985684" y="205642"/>
                      <a:pt x="978344" y="212982"/>
                    </a:cubicBezTo>
                    <a:cubicBezTo>
                      <a:pt x="971004" y="220322"/>
                      <a:pt x="961048" y="224446"/>
                      <a:pt x="950667" y="224446"/>
                    </a:cubicBezTo>
                    <a:lnTo>
                      <a:pt x="39140" y="224446"/>
                    </a:lnTo>
                    <a:cubicBezTo>
                      <a:pt x="28760" y="224446"/>
                      <a:pt x="18804" y="220322"/>
                      <a:pt x="11464" y="212982"/>
                    </a:cubicBezTo>
                    <a:cubicBezTo>
                      <a:pt x="4124" y="205642"/>
                      <a:pt x="0" y="195686"/>
                      <a:pt x="0" y="185306"/>
                    </a:cubicBezTo>
                    <a:lnTo>
                      <a:pt x="0" y="39140"/>
                    </a:lnTo>
                    <a:cubicBezTo>
                      <a:pt x="0" y="28760"/>
                      <a:pt x="4124" y="18804"/>
                      <a:pt x="11464" y="11464"/>
                    </a:cubicBezTo>
                    <a:cubicBezTo>
                      <a:pt x="18804" y="4124"/>
                      <a:pt x="28760" y="0"/>
                      <a:pt x="3914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89808" cy="2625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797540" y="310954"/>
              <a:ext cx="3415821" cy="561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6,09</a:t>
              </a:r>
              <a:r>
                <a:rPr lang="en-US" sz="3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 → 23,38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030053" y="8368007"/>
            <a:ext cx="87377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VAL BCE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25448" y="8368007"/>
            <a:ext cx="70529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VAL KL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700000">
            <a:off x="-3785194" y="-1407028"/>
            <a:ext cx="8105898" cy="9961165"/>
          </a:xfrm>
          <a:custGeom>
            <a:avLst/>
            <a:gdLst/>
            <a:ahLst/>
            <a:cxnLst/>
            <a:rect r="r" b="b" t="t" l="l"/>
            <a:pathLst>
              <a:path h="9961165" w="8105898">
                <a:moveTo>
                  <a:pt x="8105898" y="0"/>
                </a:moveTo>
                <a:lnTo>
                  <a:pt x="0" y="0"/>
                </a:lnTo>
                <a:lnTo>
                  <a:pt x="0" y="9961166"/>
                </a:lnTo>
                <a:lnTo>
                  <a:pt x="8105898" y="9961166"/>
                </a:lnTo>
                <a:lnTo>
                  <a:pt x="8105898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40427" y="2577367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617391">
            <a:off x="13442722" y="6456055"/>
            <a:ext cx="7633157" cy="7661889"/>
          </a:xfrm>
          <a:custGeom>
            <a:avLst/>
            <a:gdLst/>
            <a:ahLst/>
            <a:cxnLst/>
            <a:rect r="r" b="b" t="t" l="l"/>
            <a:pathLst>
              <a:path h="7661889" w="7633157">
                <a:moveTo>
                  <a:pt x="0" y="0"/>
                </a:moveTo>
                <a:lnTo>
                  <a:pt x="7633156" y="0"/>
                </a:lnTo>
                <a:lnTo>
                  <a:pt x="7633156" y="7661890"/>
                </a:lnTo>
                <a:lnTo>
                  <a:pt x="0" y="766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757749" y="5307180"/>
          <a:ext cx="13030200" cy="3143250"/>
        </p:xfrm>
        <a:graphic>
          <a:graphicData uri="http://schemas.openxmlformats.org/presentationml/2006/ole">
            <p:oleObj imgW="15633700" imgH="5753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40427" y="1491517"/>
            <a:ext cx="7403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Evaluasi Akhir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50655" y="3223423"/>
            <a:ext cx="5870199" cy="1445583"/>
            <a:chOff x="0" y="0"/>
            <a:chExt cx="7826932" cy="1927443"/>
          </a:xfrm>
        </p:grpSpPr>
        <p:sp>
          <p:nvSpPr>
            <p:cNvPr name="AutoShape 8" id="8"/>
            <p:cNvSpPr/>
            <p:nvPr/>
          </p:nvSpPr>
          <p:spPr>
            <a:xfrm>
              <a:off x="0" y="1302300"/>
              <a:ext cx="7150798" cy="0"/>
            </a:xfrm>
            <a:prstGeom prst="line">
              <a:avLst/>
            </a:prstGeom>
            <a:ln cap="flat" w="26479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59888" y="123825"/>
              <a:ext cx="7278483" cy="1074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63"/>
                </a:lnSpc>
              </a:pPr>
              <a:r>
                <a:rPr lang="en-US" sz="5942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-34,3%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49537"/>
              <a:ext cx="7826932" cy="577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8"/>
                </a:lnSpc>
              </a:pPr>
              <a:r>
                <a:rPr lang="en-US" sz="2606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total loss GS_067 dibanding baseline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7986241">
            <a:off x="4265184" y="-4819799"/>
            <a:ext cx="19473180" cy="13898982"/>
          </a:xfrm>
          <a:custGeom>
            <a:avLst/>
            <a:gdLst/>
            <a:ahLst/>
            <a:cxnLst/>
            <a:rect r="r" b="b" t="t" l="l"/>
            <a:pathLst>
              <a:path h="13898982" w="19473180">
                <a:moveTo>
                  <a:pt x="19473180" y="0"/>
                </a:moveTo>
                <a:lnTo>
                  <a:pt x="0" y="0"/>
                </a:lnTo>
                <a:lnTo>
                  <a:pt x="0" y="13898982"/>
                </a:lnTo>
                <a:lnTo>
                  <a:pt x="19473180" y="13898982"/>
                </a:lnTo>
                <a:lnTo>
                  <a:pt x="1947318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81364">
            <a:off x="-9351600" y="3498103"/>
            <a:ext cx="11609013" cy="13577793"/>
          </a:xfrm>
          <a:custGeom>
            <a:avLst/>
            <a:gdLst/>
            <a:ahLst/>
            <a:cxnLst/>
            <a:rect r="r" b="b" t="t" l="l"/>
            <a:pathLst>
              <a:path h="13577793" w="11609013">
                <a:moveTo>
                  <a:pt x="11609013" y="0"/>
                </a:moveTo>
                <a:lnTo>
                  <a:pt x="0" y="0"/>
                </a:lnTo>
                <a:lnTo>
                  <a:pt x="0" y="13577794"/>
                </a:lnTo>
                <a:lnTo>
                  <a:pt x="11609013" y="13577794"/>
                </a:lnTo>
                <a:lnTo>
                  <a:pt x="11609013" y="0"/>
                </a:lnTo>
                <a:close/>
              </a:path>
            </a:pathLst>
          </a:custGeom>
          <a:blipFill>
            <a:blip r:embed="rId3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872642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636252" y="9658994"/>
            <a:ext cx="820418" cy="860202"/>
          </a:xfrm>
          <a:custGeom>
            <a:avLst/>
            <a:gdLst/>
            <a:ahLst/>
            <a:cxnLst/>
            <a:rect r="r" b="b" t="t" l="l"/>
            <a:pathLst>
              <a:path h="860202" w="820418">
                <a:moveTo>
                  <a:pt x="0" y="0"/>
                </a:moveTo>
                <a:lnTo>
                  <a:pt x="820418" y="0"/>
                </a:lnTo>
                <a:lnTo>
                  <a:pt x="820418" y="860203"/>
                </a:lnTo>
                <a:lnTo>
                  <a:pt x="0" y="860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12794" y="0"/>
            <a:ext cx="1043877" cy="916002"/>
          </a:xfrm>
          <a:custGeom>
            <a:avLst/>
            <a:gdLst/>
            <a:ahLst/>
            <a:cxnLst/>
            <a:rect r="r" b="b" t="t" l="l"/>
            <a:pathLst>
              <a:path h="916002" w="1043877">
                <a:moveTo>
                  <a:pt x="0" y="0"/>
                </a:moveTo>
                <a:lnTo>
                  <a:pt x="1043876" y="0"/>
                </a:lnTo>
                <a:lnTo>
                  <a:pt x="1043876" y="916002"/>
                </a:lnTo>
                <a:lnTo>
                  <a:pt x="0" y="916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5400000">
            <a:off x="1683398" y="2867740"/>
            <a:ext cx="6261857" cy="11520085"/>
            <a:chOff x="0" y="0"/>
            <a:chExt cx="1649213" cy="30340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9213" cy="3034097"/>
            </a:xfrm>
            <a:custGeom>
              <a:avLst/>
              <a:gdLst/>
              <a:ahLst/>
              <a:cxnLst/>
              <a:rect r="r" b="b" t="t" l="l"/>
              <a:pathLst>
                <a:path h="3034097" w="1649213">
                  <a:moveTo>
                    <a:pt x="0" y="0"/>
                  </a:moveTo>
                  <a:lnTo>
                    <a:pt x="1649213" y="0"/>
                  </a:lnTo>
                  <a:lnTo>
                    <a:pt x="1649213" y="3034097"/>
                  </a:lnTo>
                  <a:lnTo>
                    <a:pt x="0" y="3034097"/>
                  </a:lnTo>
                  <a:close/>
                </a:path>
              </a:pathLst>
            </a:custGeom>
            <a:gradFill rotWithShape="true">
              <a:gsLst>
                <a:gs pos="0">
                  <a:srgbClr val="F1F1F1">
                    <a:alpha val="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49213" cy="3072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158392"/>
            <a:ext cx="16230600" cy="6353379"/>
            <a:chOff x="0" y="0"/>
            <a:chExt cx="9899595" cy="38751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99594" cy="3875142"/>
            </a:xfrm>
            <a:custGeom>
              <a:avLst/>
              <a:gdLst/>
              <a:ahLst/>
              <a:cxnLst/>
              <a:rect r="r" b="b" t="t" l="l"/>
              <a:pathLst>
                <a:path h="3875142" w="9899594">
                  <a:moveTo>
                    <a:pt x="21241" y="0"/>
                  </a:moveTo>
                  <a:lnTo>
                    <a:pt x="9878353" y="0"/>
                  </a:lnTo>
                  <a:cubicBezTo>
                    <a:pt x="9883987" y="0"/>
                    <a:pt x="9889389" y="2238"/>
                    <a:pt x="9893373" y="6221"/>
                  </a:cubicBezTo>
                  <a:cubicBezTo>
                    <a:pt x="9897356" y="10205"/>
                    <a:pt x="9899594" y="15608"/>
                    <a:pt x="9899594" y="21241"/>
                  </a:cubicBezTo>
                  <a:lnTo>
                    <a:pt x="9899594" y="3853900"/>
                  </a:lnTo>
                  <a:cubicBezTo>
                    <a:pt x="9899594" y="3865632"/>
                    <a:pt x="9890084" y="3875142"/>
                    <a:pt x="9878353" y="3875142"/>
                  </a:cubicBezTo>
                  <a:lnTo>
                    <a:pt x="21241" y="3875142"/>
                  </a:lnTo>
                  <a:cubicBezTo>
                    <a:pt x="15608" y="3875142"/>
                    <a:pt x="10205" y="3872904"/>
                    <a:pt x="6221" y="3868920"/>
                  </a:cubicBezTo>
                  <a:cubicBezTo>
                    <a:pt x="2238" y="3864937"/>
                    <a:pt x="0" y="3859534"/>
                    <a:pt x="0" y="3853900"/>
                  </a:cubicBezTo>
                  <a:lnTo>
                    <a:pt x="0" y="21241"/>
                  </a:lnTo>
                  <a:cubicBezTo>
                    <a:pt x="0" y="15608"/>
                    <a:pt x="2238" y="10205"/>
                    <a:pt x="6221" y="6221"/>
                  </a:cubicBezTo>
                  <a:cubicBezTo>
                    <a:pt x="10205" y="2238"/>
                    <a:pt x="15608" y="0"/>
                    <a:pt x="21241" y="0"/>
                  </a:cubicBezTo>
                  <a:close/>
                </a:path>
              </a:pathLst>
            </a:custGeom>
            <a:solidFill>
              <a:srgbClr val="E8E8E8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899595" cy="3903717"/>
            </a:xfrm>
            <a:prstGeom prst="rect">
              <a:avLst/>
            </a:prstGeom>
          </p:spPr>
          <p:txBody>
            <a:bodyPr anchor="ctr" rtlCol="false" tIns="165306" lIns="165306" bIns="165306" rIns="165306"/>
            <a:lstStyle/>
            <a:p>
              <a:pPr algn="l">
                <a:lnSpc>
                  <a:spcPts val="299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93867" y="3352031"/>
            <a:ext cx="15700266" cy="5966101"/>
          </a:xfrm>
          <a:custGeom>
            <a:avLst/>
            <a:gdLst/>
            <a:ahLst/>
            <a:cxnLst/>
            <a:rect r="r" b="b" t="t" l="l"/>
            <a:pathLst>
              <a:path h="5966101" w="15700266">
                <a:moveTo>
                  <a:pt x="0" y="0"/>
                </a:moveTo>
                <a:lnTo>
                  <a:pt x="15700266" y="0"/>
                </a:lnTo>
                <a:lnTo>
                  <a:pt x="15700266" y="5966101"/>
                </a:lnTo>
                <a:lnTo>
                  <a:pt x="0" y="59661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491517"/>
            <a:ext cx="5391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Rekonstruksi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355434"/>
            <a:ext cx="602117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GS_067 lebih tajam dan digit tetap dikenali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953001">
            <a:off x="13099335" y="2228007"/>
            <a:ext cx="10831652" cy="14837879"/>
          </a:xfrm>
          <a:custGeom>
            <a:avLst/>
            <a:gdLst/>
            <a:ahLst/>
            <a:cxnLst/>
            <a:rect r="r" b="b" t="t" l="l"/>
            <a:pathLst>
              <a:path h="14837879" w="10831652">
                <a:moveTo>
                  <a:pt x="0" y="0"/>
                </a:moveTo>
                <a:lnTo>
                  <a:pt x="10831652" y="0"/>
                </a:lnTo>
                <a:lnTo>
                  <a:pt x="10831652" y="14837879"/>
                </a:lnTo>
                <a:lnTo>
                  <a:pt x="0" y="14837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873633">
            <a:off x="-1357982" y="-4327706"/>
            <a:ext cx="12753998" cy="12541613"/>
          </a:xfrm>
          <a:custGeom>
            <a:avLst/>
            <a:gdLst/>
            <a:ahLst/>
            <a:cxnLst/>
            <a:rect r="r" b="b" t="t" l="l"/>
            <a:pathLst>
              <a:path h="12541613" w="12753998">
                <a:moveTo>
                  <a:pt x="0" y="0"/>
                </a:moveTo>
                <a:lnTo>
                  <a:pt x="12753998" y="0"/>
                </a:lnTo>
                <a:lnTo>
                  <a:pt x="12753998" y="12541612"/>
                </a:lnTo>
                <a:lnTo>
                  <a:pt x="0" y="1254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5793487" y="2230657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00019" y="2329352"/>
            <a:ext cx="13845613" cy="6575027"/>
            <a:chOff x="0" y="0"/>
            <a:chExt cx="9899595" cy="47011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99594" cy="4701135"/>
            </a:xfrm>
            <a:custGeom>
              <a:avLst/>
              <a:gdLst/>
              <a:ahLst/>
              <a:cxnLst/>
              <a:rect r="r" b="b" t="t" l="l"/>
              <a:pathLst>
                <a:path h="4701135" w="9899594">
                  <a:moveTo>
                    <a:pt x="24900" y="0"/>
                  </a:moveTo>
                  <a:lnTo>
                    <a:pt x="9874694" y="0"/>
                  </a:lnTo>
                  <a:cubicBezTo>
                    <a:pt x="9881298" y="0"/>
                    <a:pt x="9887631" y="2623"/>
                    <a:pt x="9892301" y="7293"/>
                  </a:cubicBezTo>
                  <a:cubicBezTo>
                    <a:pt x="9896971" y="11963"/>
                    <a:pt x="9899594" y="18296"/>
                    <a:pt x="9899594" y="24900"/>
                  </a:cubicBezTo>
                  <a:lnTo>
                    <a:pt x="9899594" y="4676235"/>
                  </a:lnTo>
                  <a:cubicBezTo>
                    <a:pt x="9899594" y="4682839"/>
                    <a:pt x="9896971" y="4689172"/>
                    <a:pt x="9892301" y="4693842"/>
                  </a:cubicBezTo>
                  <a:cubicBezTo>
                    <a:pt x="9887631" y="4698512"/>
                    <a:pt x="9881298" y="4701135"/>
                    <a:pt x="9874694" y="4701135"/>
                  </a:cubicBezTo>
                  <a:lnTo>
                    <a:pt x="24900" y="4701135"/>
                  </a:lnTo>
                  <a:cubicBezTo>
                    <a:pt x="11148" y="4701135"/>
                    <a:pt x="0" y="4689987"/>
                    <a:pt x="0" y="4676235"/>
                  </a:cubicBezTo>
                  <a:lnTo>
                    <a:pt x="0" y="24900"/>
                  </a:lnTo>
                  <a:cubicBezTo>
                    <a:pt x="0" y="11148"/>
                    <a:pt x="11148" y="0"/>
                    <a:pt x="24900" y="0"/>
                  </a:cubicBezTo>
                  <a:close/>
                </a:path>
              </a:pathLst>
            </a:custGeom>
            <a:solidFill>
              <a:srgbClr val="E8E8E8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899595" cy="4729710"/>
            </a:xfrm>
            <a:prstGeom prst="rect">
              <a:avLst/>
            </a:prstGeom>
          </p:spPr>
          <p:txBody>
            <a:bodyPr anchor="ctr" rtlCol="false" tIns="141016" lIns="141016" bIns="141016" rIns="141016"/>
            <a:lstStyle/>
            <a:p>
              <a:pPr algn="l">
                <a:lnSpc>
                  <a:spcPts val="299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65147" y="3360273"/>
            <a:ext cx="3394955" cy="1694307"/>
            <a:chOff x="0" y="0"/>
            <a:chExt cx="3331513" cy="16626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31513" cy="1662645"/>
            </a:xfrm>
            <a:custGeom>
              <a:avLst/>
              <a:gdLst/>
              <a:ahLst/>
              <a:cxnLst/>
              <a:rect r="r" b="b" t="t" l="l"/>
              <a:pathLst>
                <a:path h="1662645" w="3331513">
                  <a:moveTo>
                    <a:pt x="101550" y="0"/>
                  </a:moveTo>
                  <a:lnTo>
                    <a:pt x="3229963" y="0"/>
                  </a:lnTo>
                  <a:cubicBezTo>
                    <a:pt x="3256896" y="0"/>
                    <a:pt x="3282726" y="10699"/>
                    <a:pt x="3301770" y="29743"/>
                  </a:cubicBezTo>
                  <a:cubicBezTo>
                    <a:pt x="3320814" y="48788"/>
                    <a:pt x="3331513" y="74617"/>
                    <a:pt x="3331513" y="101550"/>
                  </a:cubicBezTo>
                  <a:lnTo>
                    <a:pt x="3331513" y="1561095"/>
                  </a:lnTo>
                  <a:cubicBezTo>
                    <a:pt x="3331513" y="1617180"/>
                    <a:pt x="3286048" y="1662645"/>
                    <a:pt x="3229963" y="1662645"/>
                  </a:cubicBezTo>
                  <a:lnTo>
                    <a:pt x="101550" y="1662645"/>
                  </a:lnTo>
                  <a:cubicBezTo>
                    <a:pt x="74617" y="1662645"/>
                    <a:pt x="48788" y="1651946"/>
                    <a:pt x="29743" y="1632902"/>
                  </a:cubicBezTo>
                  <a:cubicBezTo>
                    <a:pt x="10699" y="1613858"/>
                    <a:pt x="0" y="1588028"/>
                    <a:pt x="0" y="1561095"/>
                  </a:cubicBezTo>
                  <a:lnTo>
                    <a:pt x="0" y="101550"/>
                  </a:lnTo>
                  <a:cubicBezTo>
                    <a:pt x="0" y="45465"/>
                    <a:pt x="45465" y="0"/>
                    <a:pt x="1015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331513" cy="1662645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266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GAGAL</a:t>
              </a:r>
            </a:p>
            <a:p>
              <a:pPr algn="l">
                <a:lnSpc>
                  <a:spcPts val="2419"/>
                </a:lnSpc>
              </a:pPr>
              <a:r>
                <a:rPr lang="en-US" sz="19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Goresan sangat tebal, coretan tambahan, gaya tidak lazim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65147" y="5454630"/>
            <a:ext cx="3394955" cy="1452498"/>
            <a:chOff x="0" y="0"/>
            <a:chExt cx="3331513" cy="14253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1513" cy="1425356"/>
            </a:xfrm>
            <a:custGeom>
              <a:avLst/>
              <a:gdLst/>
              <a:ahLst/>
              <a:cxnLst/>
              <a:rect r="r" b="b" t="t" l="l"/>
              <a:pathLst>
                <a:path h="1425356" w="3331513">
                  <a:moveTo>
                    <a:pt x="101550" y="0"/>
                  </a:moveTo>
                  <a:lnTo>
                    <a:pt x="3229963" y="0"/>
                  </a:lnTo>
                  <a:cubicBezTo>
                    <a:pt x="3256896" y="0"/>
                    <a:pt x="3282726" y="10699"/>
                    <a:pt x="3301770" y="29743"/>
                  </a:cubicBezTo>
                  <a:cubicBezTo>
                    <a:pt x="3320814" y="48788"/>
                    <a:pt x="3331513" y="74617"/>
                    <a:pt x="3331513" y="101550"/>
                  </a:cubicBezTo>
                  <a:lnTo>
                    <a:pt x="3331513" y="1323806"/>
                  </a:lnTo>
                  <a:cubicBezTo>
                    <a:pt x="3331513" y="1379890"/>
                    <a:pt x="3286048" y="1425356"/>
                    <a:pt x="3229963" y="1425356"/>
                  </a:cubicBezTo>
                  <a:lnTo>
                    <a:pt x="101550" y="1425356"/>
                  </a:lnTo>
                  <a:cubicBezTo>
                    <a:pt x="74617" y="1425356"/>
                    <a:pt x="48788" y="1414657"/>
                    <a:pt x="29743" y="1395612"/>
                  </a:cubicBezTo>
                  <a:cubicBezTo>
                    <a:pt x="10699" y="1376568"/>
                    <a:pt x="0" y="1350738"/>
                    <a:pt x="0" y="1323806"/>
                  </a:cubicBezTo>
                  <a:lnTo>
                    <a:pt x="0" y="101550"/>
                  </a:lnTo>
                  <a:cubicBezTo>
                    <a:pt x="0" y="45465"/>
                    <a:pt x="45465" y="0"/>
                    <a:pt x="1015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331513" cy="142535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266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POLA</a:t>
              </a:r>
            </a:p>
            <a:p>
              <a:pPr algn="l">
                <a:lnSpc>
                  <a:spcPts val="2419"/>
                </a:lnSpc>
              </a:pPr>
              <a:r>
                <a:rPr lang="en-US" sz="19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Model “merapikan” tulisan menjadi versi yang umum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65147" y="7294245"/>
            <a:ext cx="3394955" cy="1452498"/>
            <a:chOff x="0" y="0"/>
            <a:chExt cx="3331513" cy="14253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31513" cy="1425356"/>
            </a:xfrm>
            <a:custGeom>
              <a:avLst/>
              <a:gdLst/>
              <a:ahLst/>
              <a:cxnLst/>
              <a:rect r="r" b="b" t="t" l="l"/>
              <a:pathLst>
                <a:path h="1425356" w="3331513">
                  <a:moveTo>
                    <a:pt x="101550" y="0"/>
                  </a:moveTo>
                  <a:lnTo>
                    <a:pt x="3229963" y="0"/>
                  </a:lnTo>
                  <a:cubicBezTo>
                    <a:pt x="3256896" y="0"/>
                    <a:pt x="3282726" y="10699"/>
                    <a:pt x="3301770" y="29743"/>
                  </a:cubicBezTo>
                  <a:cubicBezTo>
                    <a:pt x="3320814" y="48788"/>
                    <a:pt x="3331513" y="74617"/>
                    <a:pt x="3331513" y="101550"/>
                  </a:cubicBezTo>
                  <a:lnTo>
                    <a:pt x="3331513" y="1323806"/>
                  </a:lnTo>
                  <a:cubicBezTo>
                    <a:pt x="3331513" y="1379890"/>
                    <a:pt x="3286048" y="1425356"/>
                    <a:pt x="3229963" y="1425356"/>
                  </a:cubicBezTo>
                  <a:lnTo>
                    <a:pt x="101550" y="1425356"/>
                  </a:lnTo>
                  <a:cubicBezTo>
                    <a:pt x="74617" y="1425356"/>
                    <a:pt x="48788" y="1414657"/>
                    <a:pt x="29743" y="1395612"/>
                  </a:cubicBezTo>
                  <a:cubicBezTo>
                    <a:pt x="10699" y="1376568"/>
                    <a:pt x="0" y="1350738"/>
                    <a:pt x="0" y="1323806"/>
                  </a:cubicBezTo>
                  <a:lnTo>
                    <a:pt x="0" y="101550"/>
                  </a:lnTo>
                  <a:cubicBezTo>
                    <a:pt x="0" y="45465"/>
                    <a:pt x="45465" y="0"/>
                    <a:pt x="1015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331513" cy="142535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266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BERHASIL</a:t>
              </a:r>
            </a:p>
            <a:p>
              <a:pPr algn="l">
                <a:lnSpc>
                  <a:spcPts val="2419"/>
                </a:lnSpc>
              </a:pPr>
              <a:r>
                <a:rPr lang="en-US" sz="19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8</a:t>
              </a:r>
              <a:r>
                <a:rPr lang="en-US" sz="19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terbaik semuanya digit 1, BCE 20,7–30,3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80710" y="2509361"/>
            <a:ext cx="13084230" cy="6215009"/>
          </a:xfrm>
          <a:custGeom>
            <a:avLst/>
            <a:gdLst/>
            <a:ahLst/>
            <a:cxnLst/>
            <a:rect r="r" b="b" t="t" l="l"/>
            <a:pathLst>
              <a:path h="6215009" w="13084230">
                <a:moveTo>
                  <a:pt x="0" y="0"/>
                </a:moveTo>
                <a:lnTo>
                  <a:pt x="13084230" y="0"/>
                </a:lnTo>
                <a:lnTo>
                  <a:pt x="13084230" y="6215010"/>
                </a:lnTo>
                <a:lnTo>
                  <a:pt x="0" y="6215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45287" y="676275"/>
            <a:ext cx="1030133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Keberhasilan &amp; Kegagalan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38124" y="1624867"/>
            <a:ext cx="602117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8 rekonstruksi terburuk menurut GS_067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953001">
            <a:off x="13099335" y="2228007"/>
            <a:ext cx="10831652" cy="14837879"/>
          </a:xfrm>
          <a:custGeom>
            <a:avLst/>
            <a:gdLst/>
            <a:ahLst/>
            <a:cxnLst/>
            <a:rect r="r" b="b" t="t" l="l"/>
            <a:pathLst>
              <a:path h="14837879" w="10831652">
                <a:moveTo>
                  <a:pt x="0" y="0"/>
                </a:moveTo>
                <a:lnTo>
                  <a:pt x="10831652" y="0"/>
                </a:lnTo>
                <a:lnTo>
                  <a:pt x="10831652" y="14837879"/>
                </a:lnTo>
                <a:lnTo>
                  <a:pt x="0" y="14837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873633">
            <a:off x="-1357982" y="-4327706"/>
            <a:ext cx="12753998" cy="12541613"/>
          </a:xfrm>
          <a:custGeom>
            <a:avLst/>
            <a:gdLst/>
            <a:ahLst/>
            <a:cxnLst/>
            <a:rect r="r" b="b" t="t" l="l"/>
            <a:pathLst>
              <a:path h="12541613" w="12753998">
                <a:moveTo>
                  <a:pt x="0" y="0"/>
                </a:moveTo>
                <a:lnTo>
                  <a:pt x="12753998" y="0"/>
                </a:lnTo>
                <a:lnTo>
                  <a:pt x="12753998" y="12541612"/>
                </a:lnTo>
                <a:lnTo>
                  <a:pt x="0" y="1254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5793487" y="2230657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00019" y="2329352"/>
            <a:ext cx="13845613" cy="6575027"/>
            <a:chOff x="0" y="0"/>
            <a:chExt cx="9899595" cy="47011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99594" cy="4701135"/>
            </a:xfrm>
            <a:custGeom>
              <a:avLst/>
              <a:gdLst/>
              <a:ahLst/>
              <a:cxnLst/>
              <a:rect r="r" b="b" t="t" l="l"/>
              <a:pathLst>
                <a:path h="4701135" w="9899594">
                  <a:moveTo>
                    <a:pt x="24900" y="0"/>
                  </a:moveTo>
                  <a:lnTo>
                    <a:pt x="9874694" y="0"/>
                  </a:lnTo>
                  <a:cubicBezTo>
                    <a:pt x="9881298" y="0"/>
                    <a:pt x="9887631" y="2623"/>
                    <a:pt x="9892301" y="7293"/>
                  </a:cubicBezTo>
                  <a:cubicBezTo>
                    <a:pt x="9896971" y="11963"/>
                    <a:pt x="9899594" y="18296"/>
                    <a:pt x="9899594" y="24900"/>
                  </a:cubicBezTo>
                  <a:lnTo>
                    <a:pt x="9899594" y="4676235"/>
                  </a:lnTo>
                  <a:cubicBezTo>
                    <a:pt x="9899594" y="4682839"/>
                    <a:pt x="9896971" y="4689172"/>
                    <a:pt x="9892301" y="4693842"/>
                  </a:cubicBezTo>
                  <a:cubicBezTo>
                    <a:pt x="9887631" y="4698512"/>
                    <a:pt x="9881298" y="4701135"/>
                    <a:pt x="9874694" y="4701135"/>
                  </a:cubicBezTo>
                  <a:lnTo>
                    <a:pt x="24900" y="4701135"/>
                  </a:lnTo>
                  <a:cubicBezTo>
                    <a:pt x="11148" y="4701135"/>
                    <a:pt x="0" y="4689987"/>
                    <a:pt x="0" y="4676235"/>
                  </a:cubicBezTo>
                  <a:lnTo>
                    <a:pt x="0" y="24900"/>
                  </a:lnTo>
                  <a:cubicBezTo>
                    <a:pt x="0" y="11148"/>
                    <a:pt x="11148" y="0"/>
                    <a:pt x="24900" y="0"/>
                  </a:cubicBezTo>
                  <a:close/>
                </a:path>
              </a:pathLst>
            </a:custGeom>
            <a:solidFill>
              <a:srgbClr val="E8E8E8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899595" cy="4729710"/>
            </a:xfrm>
            <a:prstGeom prst="rect">
              <a:avLst/>
            </a:prstGeom>
          </p:spPr>
          <p:txBody>
            <a:bodyPr anchor="ctr" rtlCol="false" tIns="141016" lIns="141016" bIns="141016" rIns="141016"/>
            <a:lstStyle/>
            <a:p>
              <a:pPr algn="l">
                <a:lnSpc>
                  <a:spcPts val="299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65147" y="3360273"/>
            <a:ext cx="3394955" cy="1694307"/>
            <a:chOff x="0" y="0"/>
            <a:chExt cx="3331513" cy="16626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31513" cy="1662645"/>
            </a:xfrm>
            <a:custGeom>
              <a:avLst/>
              <a:gdLst/>
              <a:ahLst/>
              <a:cxnLst/>
              <a:rect r="r" b="b" t="t" l="l"/>
              <a:pathLst>
                <a:path h="1662645" w="3331513">
                  <a:moveTo>
                    <a:pt x="101550" y="0"/>
                  </a:moveTo>
                  <a:lnTo>
                    <a:pt x="3229963" y="0"/>
                  </a:lnTo>
                  <a:cubicBezTo>
                    <a:pt x="3256896" y="0"/>
                    <a:pt x="3282726" y="10699"/>
                    <a:pt x="3301770" y="29743"/>
                  </a:cubicBezTo>
                  <a:cubicBezTo>
                    <a:pt x="3320814" y="48788"/>
                    <a:pt x="3331513" y="74617"/>
                    <a:pt x="3331513" y="101550"/>
                  </a:cubicBezTo>
                  <a:lnTo>
                    <a:pt x="3331513" y="1561095"/>
                  </a:lnTo>
                  <a:cubicBezTo>
                    <a:pt x="3331513" y="1617180"/>
                    <a:pt x="3286048" y="1662645"/>
                    <a:pt x="3229963" y="1662645"/>
                  </a:cubicBezTo>
                  <a:lnTo>
                    <a:pt x="101550" y="1662645"/>
                  </a:lnTo>
                  <a:cubicBezTo>
                    <a:pt x="74617" y="1662645"/>
                    <a:pt x="48788" y="1651946"/>
                    <a:pt x="29743" y="1632902"/>
                  </a:cubicBezTo>
                  <a:cubicBezTo>
                    <a:pt x="10699" y="1613858"/>
                    <a:pt x="0" y="1588028"/>
                    <a:pt x="0" y="1561095"/>
                  </a:cubicBezTo>
                  <a:lnTo>
                    <a:pt x="0" y="101550"/>
                  </a:lnTo>
                  <a:cubicBezTo>
                    <a:pt x="0" y="45465"/>
                    <a:pt x="45465" y="0"/>
                    <a:pt x="1015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331513" cy="1662645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266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GAGAL</a:t>
              </a:r>
            </a:p>
            <a:p>
              <a:pPr algn="l">
                <a:lnSpc>
                  <a:spcPts val="2419"/>
                </a:lnSpc>
              </a:pPr>
              <a:r>
                <a:rPr lang="en-US" sz="19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Goresan sangat tebal, coretan tambahan, gaya tidak lazim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65147" y="5454630"/>
            <a:ext cx="3394955" cy="1452498"/>
            <a:chOff x="0" y="0"/>
            <a:chExt cx="3331513" cy="14253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1513" cy="1425356"/>
            </a:xfrm>
            <a:custGeom>
              <a:avLst/>
              <a:gdLst/>
              <a:ahLst/>
              <a:cxnLst/>
              <a:rect r="r" b="b" t="t" l="l"/>
              <a:pathLst>
                <a:path h="1425356" w="3331513">
                  <a:moveTo>
                    <a:pt x="101550" y="0"/>
                  </a:moveTo>
                  <a:lnTo>
                    <a:pt x="3229963" y="0"/>
                  </a:lnTo>
                  <a:cubicBezTo>
                    <a:pt x="3256896" y="0"/>
                    <a:pt x="3282726" y="10699"/>
                    <a:pt x="3301770" y="29743"/>
                  </a:cubicBezTo>
                  <a:cubicBezTo>
                    <a:pt x="3320814" y="48788"/>
                    <a:pt x="3331513" y="74617"/>
                    <a:pt x="3331513" y="101550"/>
                  </a:cubicBezTo>
                  <a:lnTo>
                    <a:pt x="3331513" y="1323806"/>
                  </a:lnTo>
                  <a:cubicBezTo>
                    <a:pt x="3331513" y="1379890"/>
                    <a:pt x="3286048" y="1425356"/>
                    <a:pt x="3229963" y="1425356"/>
                  </a:cubicBezTo>
                  <a:lnTo>
                    <a:pt x="101550" y="1425356"/>
                  </a:lnTo>
                  <a:cubicBezTo>
                    <a:pt x="74617" y="1425356"/>
                    <a:pt x="48788" y="1414657"/>
                    <a:pt x="29743" y="1395612"/>
                  </a:cubicBezTo>
                  <a:cubicBezTo>
                    <a:pt x="10699" y="1376568"/>
                    <a:pt x="0" y="1350738"/>
                    <a:pt x="0" y="1323806"/>
                  </a:cubicBezTo>
                  <a:lnTo>
                    <a:pt x="0" y="101550"/>
                  </a:lnTo>
                  <a:cubicBezTo>
                    <a:pt x="0" y="45465"/>
                    <a:pt x="45465" y="0"/>
                    <a:pt x="1015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331513" cy="142535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266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POLA</a:t>
              </a:r>
            </a:p>
            <a:p>
              <a:pPr algn="l">
                <a:lnSpc>
                  <a:spcPts val="2419"/>
                </a:lnSpc>
              </a:pPr>
              <a:r>
                <a:rPr lang="en-US" sz="19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Model “merapikan” tulisan menjadi versi yang umum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65147" y="7294245"/>
            <a:ext cx="3394955" cy="1452498"/>
            <a:chOff x="0" y="0"/>
            <a:chExt cx="3331513" cy="14253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31513" cy="1425356"/>
            </a:xfrm>
            <a:custGeom>
              <a:avLst/>
              <a:gdLst/>
              <a:ahLst/>
              <a:cxnLst/>
              <a:rect r="r" b="b" t="t" l="l"/>
              <a:pathLst>
                <a:path h="1425356" w="3331513">
                  <a:moveTo>
                    <a:pt x="101550" y="0"/>
                  </a:moveTo>
                  <a:lnTo>
                    <a:pt x="3229963" y="0"/>
                  </a:lnTo>
                  <a:cubicBezTo>
                    <a:pt x="3256896" y="0"/>
                    <a:pt x="3282726" y="10699"/>
                    <a:pt x="3301770" y="29743"/>
                  </a:cubicBezTo>
                  <a:cubicBezTo>
                    <a:pt x="3320814" y="48788"/>
                    <a:pt x="3331513" y="74617"/>
                    <a:pt x="3331513" y="101550"/>
                  </a:cubicBezTo>
                  <a:lnTo>
                    <a:pt x="3331513" y="1323806"/>
                  </a:lnTo>
                  <a:cubicBezTo>
                    <a:pt x="3331513" y="1379890"/>
                    <a:pt x="3286048" y="1425356"/>
                    <a:pt x="3229963" y="1425356"/>
                  </a:cubicBezTo>
                  <a:lnTo>
                    <a:pt x="101550" y="1425356"/>
                  </a:lnTo>
                  <a:cubicBezTo>
                    <a:pt x="74617" y="1425356"/>
                    <a:pt x="48788" y="1414657"/>
                    <a:pt x="29743" y="1395612"/>
                  </a:cubicBezTo>
                  <a:cubicBezTo>
                    <a:pt x="10699" y="1376568"/>
                    <a:pt x="0" y="1350738"/>
                    <a:pt x="0" y="1323806"/>
                  </a:cubicBezTo>
                  <a:lnTo>
                    <a:pt x="0" y="101550"/>
                  </a:lnTo>
                  <a:cubicBezTo>
                    <a:pt x="0" y="45465"/>
                    <a:pt x="45465" y="0"/>
                    <a:pt x="1015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331513" cy="142535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266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BERHASIL</a:t>
              </a:r>
            </a:p>
            <a:p>
              <a:pPr algn="l">
                <a:lnSpc>
                  <a:spcPts val="2419"/>
                </a:lnSpc>
              </a:pPr>
              <a:r>
                <a:rPr lang="en-US" sz="19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8</a:t>
              </a:r>
              <a:r>
                <a:rPr lang="en-US" sz="19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terbaik semuanya digit 1, BCE 20,7–30,3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80710" y="2509361"/>
            <a:ext cx="13084230" cy="6215009"/>
          </a:xfrm>
          <a:custGeom>
            <a:avLst/>
            <a:gdLst/>
            <a:ahLst/>
            <a:cxnLst/>
            <a:rect r="r" b="b" t="t" l="l"/>
            <a:pathLst>
              <a:path h="6215009" w="13084230">
                <a:moveTo>
                  <a:pt x="0" y="0"/>
                </a:moveTo>
                <a:lnTo>
                  <a:pt x="13084230" y="0"/>
                </a:lnTo>
                <a:lnTo>
                  <a:pt x="13084230" y="6215010"/>
                </a:lnTo>
                <a:lnTo>
                  <a:pt x="0" y="6215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45287" y="676275"/>
            <a:ext cx="1030133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Keberhasilan &amp; Kegagalan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38124" y="1624867"/>
            <a:ext cx="602117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8 rekonstruksi terbaik menurut GS_067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700000">
            <a:off x="-3312814" y="-2785488"/>
            <a:ext cx="8105898" cy="9961165"/>
          </a:xfrm>
          <a:custGeom>
            <a:avLst/>
            <a:gdLst/>
            <a:ahLst/>
            <a:cxnLst/>
            <a:rect r="r" b="b" t="t" l="l"/>
            <a:pathLst>
              <a:path h="9961165" w="8105898">
                <a:moveTo>
                  <a:pt x="8105899" y="0"/>
                </a:moveTo>
                <a:lnTo>
                  <a:pt x="0" y="0"/>
                </a:lnTo>
                <a:lnTo>
                  <a:pt x="0" y="9961165"/>
                </a:lnTo>
                <a:lnTo>
                  <a:pt x="8105899" y="9961165"/>
                </a:lnTo>
                <a:lnTo>
                  <a:pt x="8105899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7986241">
            <a:off x="963102" y="3408814"/>
            <a:ext cx="26564553" cy="18960450"/>
          </a:xfrm>
          <a:custGeom>
            <a:avLst/>
            <a:gdLst/>
            <a:ahLst/>
            <a:cxnLst/>
            <a:rect r="r" b="b" t="t" l="l"/>
            <a:pathLst>
              <a:path h="18960450" w="26564553">
                <a:moveTo>
                  <a:pt x="26564554" y="0"/>
                </a:moveTo>
                <a:lnTo>
                  <a:pt x="0" y="0"/>
                </a:lnTo>
                <a:lnTo>
                  <a:pt x="0" y="18960450"/>
                </a:lnTo>
                <a:lnTo>
                  <a:pt x="26564554" y="18960450"/>
                </a:lnTo>
                <a:lnTo>
                  <a:pt x="26564554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8411093" y="1882675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424303" y="2880801"/>
            <a:ext cx="3639136" cy="3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6"/>
              </a:lnSpc>
            </a:pPr>
            <a:r>
              <a:rPr lang="en-US" b="true" sz="28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BASELINE |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528501" y="3635148"/>
            <a:ext cx="5795340" cy="5977369"/>
          </a:xfrm>
          <a:custGeom>
            <a:avLst/>
            <a:gdLst/>
            <a:ahLst/>
            <a:cxnLst/>
            <a:rect r="r" b="b" t="t" l="l"/>
            <a:pathLst>
              <a:path h="5977369" w="5795340">
                <a:moveTo>
                  <a:pt x="0" y="0"/>
                </a:moveTo>
                <a:lnTo>
                  <a:pt x="5795340" y="0"/>
                </a:lnTo>
                <a:lnTo>
                  <a:pt x="5795340" y="5977369"/>
                </a:lnTo>
                <a:lnTo>
                  <a:pt x="0" y="5977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196" t="0" r="-1111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88903" y="3848500"/>
            <a:ext cx="5274537" cy="5550666"/>
          </a:xfrm>
          <a:custGeom>
            <a:avLst/>
            <a:gdLst/>
            <a:ahLst/>
            <a:cxnLst/>
            <a:rect r="r" b="b" t="t" l="l"/>
            <a:pathLst>
              <a:path h="5550666" w="5274537">
                <a:moveTo>
                  <a:pt x="0" y="0"/>
                </a:moveTo>
                <a:lnTo>
                  <a:pt x="5274536" y="0"/>
                </a:lnTo>
                <a:lnTo>
                  <a:pt x="5274536" y="5550666"/>
                </a:lnTo>
                <a:lnTo>
                  <a:pt x="0" y="5550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98147" y="3635148"/>
            <a:ext cx="5795340" cy="5977369"/>
          </a:xfrm>
          <a:custGeom>
            <a:avLst/>
            <a:gdLst/>
            <a:ahLst/>
            <a:cxnLst/>
            <a:rect r="r" b="b" t="t" l="l"/>
            <a:pathLst>
              <a:path h="5977369" w="5795340">
                <a:moveTo>
                  <a:pt x="0" y="0"/>
                </a:moveTo>
                <a:lnTo>
                  <a:pt x="5795340" y="0"/>
                </a:lnTo>
                <a:lnTo>
                  <a:pt x="5795340" y="5977369"/>
                </a:lnTo>
                <a:lnTo>
                  <a:pt x="0" y="5977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196" t="0" r="-11117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58549" y="3848500"/>
            <a:ext cx="5274537" cy="5550666"/>
          </a:xfrm>
          <a:custGeom>
            <a:avLst/>
            <a:gdLst/>
            <a:ahLst/>
            <a:cxnLst/>
            <a:rect r="r" b="b" t="t" l="l"/>
            <a:pathLst>
              <a:path h="5550666" w="5274537">
                <a:moveTo>
                  <a:pt x="0" y="0"/>
                </a:moveTo>
                <a:lnTo>
                  <a:pt x="5274536" y="0"/>
                </a:lnTo>
                <a:lnTo>
                  <a:pt x="5274536" y="5550666"/>
                </a:lnTo>
                <a:lnTo>
                  <a:pt x="0" y="55506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42021" y="939700"/>
            <a:ext cx="7403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Generasi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64734" y="3271199"/>
            <a:ext cx="34987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Ha</a:t>
            </a: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lus dan mirip digit, tetapi kabur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51907" y="1968400"/>
            <a:ext cx="930541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z diambil acak dari N(0, 1), lalu didekode tanpa gambar input.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58549" y="2880801"/>
            <a:ext cx="3639136" cy="3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8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| GS_067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8980" y="3271199"/>
            <a:ext cx="52641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Leb</a:t>
            </a: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ih tajam, tetapi sebagian bentuknya kurang wajar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46997">
            <a:off x="-7490012" y="2371954"/>
            <a:ext cx="16000703" cy="20137224"/>
          </a:xfrm>
          <a:custGeom>
            <a:avLst/>
            <a:gdLst/>
            <a:ahLst/>
            <a:cxnLst/>
            <a:rect r="r" b="b" t="t" l="l"/>
            <a:pathLst>
              <a:path h="20137224" w="16000703">
                <a:moveTo>
                  <a:pt x="0" y="0"/>
                </a:moveTo>
                <a:lnTo>
                  <a:pt x="16000703" y="0"/>
                </a:lnTo>
                <a:lnTo>
                  <a:pt x="16000703" y="20137224"/>
                </a:lnTo>
                <a:lnTo>
                  <a:pt x="0" y="20137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7276" y="2327284"/>
            <a:ext cx="16073448" cy="4787025"/>
          </a:xfrm>
          <a:custGeom>
            <a:avLst/>
            <a:gdLst/>
            <a:ahLst/>
            <a:cxnLst/>
            <a:rect r="r" b="b" t="t" l="l"/>
            <a:pathLst>
              <a:path h="4787025" w="16073448">
                <a:moveTo>
                  <a:pt x="0" y="0"/>
                </a:moveTo>
                <a:lnTo>
                  <a:pt x="16073448" y="0"/>
                </a:lnTo>
                <a:lnTo>
                  <a:pt x="16073448" y="4787024"/>
                </a:lnTo>
                <a:lnTo>
                  <a:pt x="0" y="4787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89" t="-32811" r="-8889" b="-3281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08399">
            <a:off x="7096198" y="-7470443"/>
            <a:ext cx="16041107" cy="11449340"/>
          </a:xfrm>
          <a:custGeom>
            <a:avLst/>
            <a:gdLst/>
            <a:ahLst/>
            <a:cxnLst/>
            <a:rect r="r" b="b" t="t" l="l"/>
            <a:pathLst>
              <a:path h="11449340" w="16041107">
                <a:moveTo>
                  <a:pt x="0" y="0"/>
                </a:moveTo>
                <a:lnTo>
                  <a:pt x="16041107" y="0"/>
                </a:lnTo>
                <a:lnTo>
                  <a:pt x="16041107" y="11449339"/>
                </a:lnTo>
                <a:lnTo>
                  <a:pt x="0" y="11449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7986241">
            <a:off x="-10222974" y="-13428417"/>
            <a:ext cx="19473180" cy="13898982"/>
          </a:xfrm>
          <a:custGeom>
            <a:avLst/>
            <a:gdLst/>
            <a:ahLst/>
            <a:cxnLst/>
            <a:rect r="r" b="b" t="t" l="l"/>
            <a:pathLst>
              <a:path h="13898982" w="19473180">
                <a:moveTo>
                  <a:pt x="19473180" y="0"/>
                </a:moveTo>
                <a:lnTo>
                  <a:pt x="0" y="0"/>
                </a:lnTo>
                <a:lnTo>
                  <a:pt x="0" y="13898982"/>
                </a:lnTo>
                <a:lnTo>
                  <a:pt x="19473180" y="13898982"/>
                </a:lnTo>
                <a:lnTo>
                  <a:pt x="19473180" y="0"/>
                </a:lnTo>
                <a:close/>
              </a:path>
            </a:pathLst>
          </a:custGeom>
          <a:blipFill>
            <a:blip r:embed="rId5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6502" y="2724336"/>
            <a:ext cx="15174996" cy="3992921"/>
          </a:xfrm>
          <a:custGeom>
            <a:avLst/>
            <a:gdLst/>
            <a:ahLst/>
            <a:cxnLst/>
            <a:rect r="r" b="b" t="t" l="l"/>
            <a:pathLst>
              <a:path h="3992921" w="15174996">
                <a:moveTo>
                  <a:pt x="0" y="0"/>
                </a:moveTo>
                <a:lnTo>
                  <a:pt x="15174996" y="0"/>
                </a:lnTo>
                <a:lnTo>
                  <a:pt x="15174996" y="3992921"/>
                </a:lnTo>
                <a:lnTo>
                  <a:pt x="0" y="39929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370441" y="7499408"/>
            <a:ext cx="3723916" cy="1195103"/>
            <a:chOff x="0" y="0"/>
            <a:chExt cx="4965221" cy="1593471"/>
          </a:xfrm>
        </p:grpSpPr>
        <p:sp>
          <p:nvSpPr>
            <p:cNvPr name="AutoShape 8" id="8"/>
            <p:cNvSpPr/>
            <p:nvPr/>
          </p:nvSpPr>
          <p:spPr>
            <a:xfrm>
              <a:off x="150300" y="721404"/>
              <a:ext cx="4664621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66675"/>
              <a:ext cx="4965221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Baseline - Latent 2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50300" y="683304"/>
              <a:ext cx="4664621" cy="91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Me</a:t>
              </a:r>
              <a:r>
                <a:rPr lang="en-US" sz="20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lewati digit lain terlebih dulu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1 → 7 → 9 → 8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442021" y="1517659"/>
            <a:ext cx="7403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Interpolasi Laten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193643" y="7499408"/>
            <a:ext cx="3723916" cy="1195103"/>
            <a:chOff x="0" y="0"/>
            <a:chExt cx="4965221" cy="1593471"/>
          </a:xfrm>
        </p:grpSpPr>
        <p:sp>
          <p:nvSpPr>
            <p:cNvPr name="AutoShape 13" id="13"/>
            <p:cNvSpPr/>
            <p:nvPr/>
          </p:nvSpPr>
          <p:spPr>
            <a:xfrm>
              <a:off x="150300" y="721404"/>
              <a:ext cx="4664621" cy="0"/>
            </a:xfrm>
            <a:prstGeom prst="line">
              <a:avLst/>
            </a:prstGeom>
            <a:ln cap="flat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66675"/>
              <a:ext cx="4965221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8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GS_067 - Latent 16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0300" y="683304"/>
              <a:ext cx="4664621" cy="91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Berub</a:t>
              </a:r>
              <a:r>
                <a:rPr lang="en-US" sz="20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ah mulus langsung 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dari 1 ke 8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7986241">
            <a:off x="-10883868" y="-5463591"/>
            <a:ext cx="19473180" cy="13898982"/>
          </a:xfrm>
          <a:custGeom>
            <a:avLst/>
            <a:gdLst/>
            <a:ahLst/>
            <a:cxnLst/>
            <a:rect r="r" b="b" t="t" l="l"/>
            <a:pathLst>
              <a:path h="13898982" w="19473180">
                <a:moveTo>
                  <a:pt x="19473179" y="0"/>
                </a:moveTo>
                <a:lnTo>
                  <a:pt x="0" y="0"/>
                </a:lnTo>
                <a:lnTo>
                  <a:pt x="0" y="13898982"/>
                </a:lnTo>
                <a:lnTo>
                  <a:pt x="19473179" y="13898982"/>
                </a:lnTo>
                <a:lnTo>
                  <a:pt x="19473179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63316">
            <a:off x="-4963857" y="4276117"/>
            <a:ext cx="7633157" cy="7661889"/>
          </a:xfrm>
          <a:custGeom>
            <a:avLst/>
            <a:gdLst/>
            <a:ahLst/>
            <a:cxnLst/>
            <a:rect r="r" b="b" t="t" l="l"/>
            <a:pathLst>
              <a:path h="7661889" w="7633157">
                <a:moveTo>
                  <a:pt x="0" y="0"/>
                </a:moveTo>
                <a:lnTo>
                  <a:pt x="7633157" y="0"/>
                </a:lnTo>
                <a:lnTo>
                  <a:pt x="7633157" y="7661889"/>
                </a:lnTo>
                <a:lnTo>
                  <a:pt x="0" y="7661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2094">
            <a:off x="5305020" y="4796101"/>
            <a:ext cx="16041107" cy="11449340"/>
          </a:xfrm>
          <a:custGeom>
            <a:avLst/>
            <a:gdLst/>
            <a:ahLst/>
            <a:cxnLst/>
            <a:rect r="r" b="b" t="t" l="l"/>
            <a:pathLst>
              <a:path h="11449340" w="16041107">
                <a:moveTo>
                  <a:pt x="0" y="0"/>
                </a:moveTo>
                <a:lnTo>
                  <a:pt x="16041107" y="0"/>
                </a:lnTo>
                <a:lnTo>
                  <a:pt x="16041107" y="11449339"/>
                </a:lnTo>
                <a:lnTo>
                  <a:pt x="0" y="11449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78342" y="3395064"/>
            <a:ext cx="2943127" cy="1040130"/>
            <a:chOff x="0" y="0"/>
            <a:chExt cx="3924170" cy="1386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24170" cy="1386840"/>
            </a:xfrm>
            <a:custGeom>
              <a:avLst/>
              <a:gdLst/>
              <a:ahLst/>
              <a:cxnLst/>
              <a:rect r="r" b="b" t="t" l="l"/>
              <a:pathLst>
                <a:path h="1386840" w="3924170">
                  <a:moveTo>
                    <a:pt x="109330" y="0"/>
                  </a:moveTo>
                  <a:lnTo>
                    <a:pt x="3814840" y="0"/>
                  </a:lnTo>
                  <a:cubicBezTo>
                    <a:pt x="3843836" y="0"/>
                    <a:pt x="3871645" y="11519"/>
                    <a:pt x="3892148" y="32022"/>
                  </a:cubicBezTo>
                  <a:cubicBezTo>
                    <a:pt x="3912651" y="52526"/>
                    <a:pt x="3924170" y="80334"/>
                    <a:pt x="3924170" y="109330"/>
                  </a:cubicBezTo>
                  <a:lnTo>
                    <a:pt x="3924170" y="1277510"/>
                  </a:lnTo>
                  <a:cubicBezTo>
                    <a:pt x="3924170" y="1306506"/>
                    <a:pt x="3912651" y="1334315"/>
                    <a:pt x="3892148" y="1354818"/>
                  </a:cubicBezTo>
                  <a:cubicBezTo>
                    <a:pt x="3871645" y="1375321"/>
                    <a:pt x="3843836" y="1386840"/>
                    <a:pt x="3814840" y="1386840"/>
                  </a:cubicBezTo>
                  <a:lnTo>
                    <a:pt x="109330" y="1386840"/>
                  </a:lnTo>
                  <a:cubicBezTo>
                    <a:pt x="80334" y="1386840"/>
                    <a:pt x="52526" y="1375321"/>
                    <a:pt x="32022" y="1354818"/>
                  </a:cubicBezTo>
                  <a:cubicBezTo>
                    <a:pt x="11519" y="1334315"/>
                    <a:pt x="0" y="1306506"/>
                    <a:pt x="0" y="1277510"/>
                  </a:cubicBezTo>
                  <a:lnTo>
                    <a:pt x="0" y="109330"/>
                  </a:lnTo>
                  <a:cubicBezTo>
                    <a:pt x="0" y="80334"/>
                    <a:pt x="11519" y="52526"/>
                    <a:pt x="32022" y="32022"/>
                  </a:cubicBezTo>
                  <a:cubicBezTo>
                    <a:pt x="52526" y="11519"/>
                    <a:pt x="80334" y="0"/>
                    <a:pt x="109330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24170" cy="1424940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Prompt yang spesifik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5458696" y="3924654"/>
            <a:ext cx="495300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6087346" y="3395064"/>
            <a:ext cx="2943127" cy="1040130"/>
            <a:chOff x="0" y="0"/>
            <a:chExt cx="3924170" cy="1386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24170" cy="1386840"/>
            </a:xfrm>
            <a:custGeom>
              <a:avLst/>
              <a:gdLst/>
              <a:ahLst/>
              <a:cxnLst/>
              <a:rect r="r" b="b" t="t" l="l"/>
              <a:pathLst>
                <a:path h="1386840" w="3924170">
                  <a:moveTo>
                    <a:pt x="109330" y="0"/>
                  </a:moveTo>
                  <a:lnTo>
                    <a:pt x="3814840" y="0"/>
                  </a:lnTo>
                  <a:cubicBezTo>
                    <a:pt x="3843836" y="0"/>
                    <a:pt x="3871645" y="11519"/>
                    <a:pt x="3892148" y="32022"/>
                  </a:cubicBezTo>
                  <a:cubicBezTo>
                    <a:pt x="3912651" y="52526"/>
                    <a:pt x="3924170" y="80334"/>
                    <a:pt x="3924170" y="109330"/>
                  </a:cubicBezTo>
                  <a:lnTo>
                    <a:pt x="3924170" y="1277510"/>
                  </a:lnTo>
                  <a:cubicBezTo>
                    <a:pt x="3924170" y="1306506"/>
                    <a:pt x="3912651" y="1334315"/>
                    <a:pt x="3892148" y="1354818"/>
                  </a:cubicBezTo>
                  <a:cubicBezTo>
                    <a:pt x="3871645" y="1375321"/>
                    <a:pt x="3843836" y="1386840"/>
                    <a:pt x="3814840" y="1386840"/>
                  </a:cubicBezTo>
                  <a:lnTo>
                    <a:pt x="109330" y="1386840"/>
                  </a:lnTo>
                  <a:cubicBezTo>
                    <a:pt x="80334" y="1386840"/>
                    <a:pt x="52526" y="1375321"/>
                    <a:pt x="32022" y="1354818"/>
                  </a:cubicBezTo>
                  <a:cubicBezTo>
                    <a:pt x="11519" y="1334315"/>
                    <a:pt x="0" y="1306506"/>
                    <a:pt x="0" y="1277510"/>
                  </a:cubicBezTo>
                  <a:lnTo>
                    <a:pt x="0" y="109330"/>
                  </a:lnTo>
                  <a:cubicBezTo>
                    <a:pt x="0" y="80334"/>
                    <a:pt x="11519" y="52526"/>
                    <a:pt x="32022" y="32022"/>
                  </a:cubicBezTo>
                  <a:cubicBezTo>
                    <a:pt x="52526" y="11519"/>
                    <a:pt x="80334" y="0"/>
                    <a:pt x="109330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24170" cy="1424940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Kode dan penjelasan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9163823" y="3934179"/>
            <a:ext cx="495300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9792473" y="3414114"/>
            <a:ext cx="2943127" cy="1040130"/>
            <a:chOff x="0" y="0"/>
            <a:chExt cx="3924170" cy="1386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24170" cy="1386840"/>
            </a:xfrm>
            <a:custGeom>
              <a:avLst/>
              <a:gdLst/>
              <a:ahLst/>
              <a:cxnLst/>
              <a:rect r="r" b="b" t="t" l="l"/>
              <a:pathLst>
                <a:path h="1386840" w="3924170">
                  <a:moveTo>
                    <a:pt x="109330" y="0"/>
                  </a:moveTo>
                  <a:lnTo>
                    <a:pt x="3814840" y="0"/>
                  </a:lnTo>
                  <a:cubicBezTo>
                    <a:pt x="3843836" y="0"/>
                    <a:pt x="3871645" y="11519"/>
                    <a:pt x="3892148" y="32022"/>
                  </a:cubicBezTo>
                  <a:cubicBezTo>
                    <a:pt x="3912651" y="52526"/>
                    <a:pt x="3924170" y="80334"/>
                    <a:pt x="3924170" y="109330"/>
                  </a:cubicBezTo>
                  <a:lnTo>
                    <a:pt x="3924170" y="1277510"/>
                  </a:lnTo>
                  <a:cubicBezTo>
                    <a:pt x="3924170" y="1306506"/>
                    <a:pt x="3912651" y="1334315"/>
                    <a:pt x="3892148" y="1354818"/>
                  </a:cubicBezTo>
                  <a:cubicBezTo>
                    <a:pt x="3871645" y="1375321"/>
                    <a:pt x="3843836" y="1386840"/>
                    <a:pt x="3814840" y="1386840"/>
                  </a:cubicBezTo>
                  <a:lnTo>
                    <a:pt x="109330" y="1386840"/>
                  </a:lnTo>
                  <a:cubicBezTo>
                    <a:pt x="80334" y="1386840"/>
                    <a:pt x="52526" y="1375321"/>
                    <a:pt x="32022" y="1354818"/>
                  </a:cubicBezTo>
                  <a:cubicBezTo>
                    <a:pt x="11519" y="1334315"/>
                    <a:pt x="0" y="1306506"/>
                    <a:pt x="0" y="1277510"/>
                  </a:cubicBezTo>
                  <a:lnTo>
                    <a:pt x="0" y="109330"/>
                  </a:lnTo>
                  <a:cubicBezTo>
                    <a:pt x="0" y="80334"/>
                    <a:pt x="11519" y="52526"/>
                    <a:pt x="32022" y="32022"/>
                  </a:cubicBezTo>
                  <a:cubicBezTo>
                    <a:pt x="52526" y="11519"/>
                    <a:pt x="80334" y="0"/>
                    <a:pt x="109330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924170" cy="1424940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Jalankan dan verifikasi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2868951" y="3953229"/>
            <a:ext cx="495300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3497601" y="3433164"/>
            <a:ext cx="2943127" cy="1040130"/>
            <a:chOff x="0" y="0"/>
            <a:chExt cx="3924170" cy="1386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24170" cy="1386840"/>
            </a:xfrm>
            <a:custGeom>
              <a:avLst/>
              <a:gdLst/>
              <a:ahLst/>
              <a:cxnLst/>
              <a:rect r="r" b="b" t="t" l="l"/>
              <a:pathLst>
                <a:path h="1386840" w="3924170">
                  <a:moveTo>
                    <a:pt x="109330" y="0"/>
                  </a:moveTo>
                  <a:lnTo>
                    <a:pt x="3814840" y="0"/>
                  </a:lnTo>
                  <a:cubicBezTo>
                    <a:pt x="3843836" y="0"/>
                    <a:pt x="3871645" y="11519"/>
                    <a:pt x="3892148" y="32022"/>
                  </a:cubicBezTo>
                  <a:cubicBezTo>
                    <a:pt x="3912651" y="52526"/>
                    <a:pt x="3924170" y="80334"/>
                    <a:pt x="3924170" y="109330"/>
                  </a:cubicBezTo>
                  <a:lnTo>
                    <a:pt x="3924170" y="1277510"/>
                  </a:lnTo>
                  <a:cubicBezTo>
                    <a:pt x="3924170" y="1306506"/>
                    <a:pt x="3912651" y="1334315"/>
                    <a:pt x="3892148" y="1354818"/>
                  </a:cubicBezTo>
                  <a:cubicBezTo>
                    <a:pt x="3871645" y="1375321"/>
                    <a:pt x="3843836" y="1386840"/>
                    <a:pt x="3814840" y="1386840"/>
                  </a:cubicBezTo>
                  <a:lnTo>
                    <a:pt x="109330" y="1386840"/>
                  </a:lnTo>
                  <a:cubicBezTo>
                    <a:pt x="80334" y="1386840"/>
                    <a:pt x="52526" y="1375321"/>
                    <a:pt x="32022" y="1354818"/>
                  </a:cubicBezTo>
                  <a:cubicBezTo>
                    <a:pt x="11519" y="1334315"/>
                    <a:pt x="0" y="1306506"/>
                    <a:pt x="0" y="1277510"/>
                  </a:cubicBezTo>
                  <a:lnTo>
                    <a:pt x="0" y="109330"/>
                  </a:lnTo>
                  <a:cubicBezTo>
                    <a:pt x="0" y="80334"/>
                    <a:pt x="11519" y="52526"/>
                    <a:pt x="32022" y="32022"/>
                  </a:cubicBezTo>
                  <a:cubicBezTo>
                    <a:pt x="52526" y="11519"/>
                    <a:pt x="80334" y="0"/>
                    <a:pt x="109330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924170" cy="1424940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Error dianalisis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266123" y="3192801"/>
            <a:ext cx="462956" cy="462956"/>
          </a:xfrm>
          <a:custGeom>
            <a:avLst/>
            <a:gdLst/>
            <a:ahLst/>
            <a:cxnLst/>
            <a:rect r="r" b="b" t="t" l="l"/>
            <a:pathLst>
              <a:path h="462956" w="462956">
                <a:moveTo>
                  <a:pt x="0" y="0"/>
                </a:moveTo>
                <a:lnTo>
                  <a:pt x="462956" y="0"/>
                </a:lnTo>
                <a:lnTo>
                  <a:pt x="462956" y="462956"/>
                </a:lnTo>
                <a:lnTo>
                  <a:pt x="0" y="462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149826" y="3166547"/>
            <a:ext cx="457033" cy="457033"/>
          </a:xfrm>
          <a:custGeom>
            <a:avLst/>
            <a:gdLst/>
            <a:ahLst/>
            <a:cxnLst/>
            <a:rect r="r" b="b" t="t" l="l"/>
            <a:pathLst>
              <a:path h="457033" w="457033">
                <a:moveTo>
                  <a:pt x="0" y="0"/>
                </a:moveTo>
                <a:lnTo>
                  <a:pt x="457033" y="0"/>
                </a:lnTo>
                <a:lnTo>
                  <a:pt x="457033" y="457033"/>
                </a:lnTo>
                <a:lnTo>
                  <a:pt x="0" y="4570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858829" y="3204647"/>
            <a:ext cx="457033" cy="457033"/>
          </a:xfrm>
          <a:custGeom>
            <a:avLst/>
            <a:gdLst/>
            <a:ahLst/>
            <a:cxnLst/>
            <a:rect r="r" b="b" t="t" l="l"/>
            <a:pathLst>
              <a:path h="457033" w="457033">
                <a:moveTo>
                  <a:pt x="0" y="0"/>
                </a:moveTo>
                <a:lnTo>
                  <a:pt x="457033" y="0"/>
                </a:lnTo>
                <a:lnTo>
                  <a:pt x="457033" y="457033"/>
                </a:lnTo>
                <a:lnTo>
                  <a:pt x="0" y="457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66918" y="3204647"/>
            <a:ext cx="451110" cy="451110"/>
          </a:xfrm>
          <a:custGeom>
            <a:avLst/>
            <a:gdLst/>
            <a:ahLst/>
            <a:cxnLst/>
            <a:rect r="r" b="b" t="t" l="l"/>
            <a:pathLst>
              <a:path h="451110" w="451110">
                <a:moveTo>
                  <a:pt x="0" y="0"/>
                </a:moveTo>
                <a:lnTo>
                  <a:pt x="451110" y="0"/>
                </a:lnTo>
                <a:lnTo>
                  <a:pt x="451110" y="451110"/>
                </a:lnTo>
                <a:lnTo>
                  <a:pt x="0" y="451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>
            <a:off x="3840381" y="4601815"/>
            <a:ext cx="11119260" cy="376939"/>
          </a:xfrm>
          <a:custGeom>
            <a:avLst/>
            <a:gdLst/>
            <a:ahLst/>
            <a:cxnLst/>
            <a:rect r="r" b="b" t="t" l="l"/>
            <a:pathLst>
              <a:path h="376939" w="11119260">
                <a:moveTo>
                  <a:pt x="11119259" y="0"/>
                </a:moveTo>
                <a:lnTo>
                  <a:pt x="11119259" y="188470"/>
                </a:lnTo>
                <a:cubicBezTo>
                  <a:pt x="11119259" y="292559"/>
                  <a:pt x="11034878" y="376939"/>
                  <a:pt x="10930790" y="376939"/>
                </a:cubicBezTo>
                <a:lnTo>
                  <a:pt x="188469" y="376939"/>
                </a:lnTo>
                <a:cubicBezTo>
                  <a:pt x="84380" y="376939"/>
                  <a:pt x="0" y="292559"/>
                  <a:pt x="0" y="188470"/>
                </a:cubicBezTo>
                <a:lnTo>
                  <a:pt x="0" y="0"/>
                </a:lnTo>
              </a:path>
            </a:pathLst>
          </a:custGeom>
          <a:ln cap="flat" w="19050">
            <a:solidFill>
              <a:srgbClr val="3030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4224694" y="6638853"/>
            <a:ext cx="11867827" cy="2883548"/>
          </a:xfrm>
          <a:custGeom>
            <a:avLst/>
            <a:gdLst/>
            <a:ahLst/>
            <a:cxnLst/>
            <a:rect r="r" b="b" t="t" l="l"/>
            <a:pathLst>
              <a:path h="2883548" w="11867827">
                <a:moveTo>
                  <a:pt x="0" y="0"/>
                </a:moveTo>
                <a:lnTo>
                  <a:pt x="11867827" y="0"/>
                </a:lnTo>
                <a:lnTo>
                  <a:pt x="11867827" y="2883548"/>
                </a:lnTo>
                <a:lnTo>
                  <a:pt x="0" y="288354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38100" cap="sq">
            <a:solidFill>
              <a:srgbClr val="1B686B"/>
            </a:solidFill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4224694" y="6146320"/>
            <a:ext cx="5184842" cy="3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8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CONTOH PROMPT VERIFIKASI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55341" y="1133475"/>
            <a:ext cx="7403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Vibe Coding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80285" y="2056898"/>
            <a:ext cx="597901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Siklus</a:t>
            </a:r>
            <a:r>
              <a:rPr lang="en-US" b="true" sz="240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 kerja bersama LLM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77824" y="-9430868"/>
            <a:ext cx="11844765" cy="11889350"/>
          </a:xfrm>
          <a:custGeom>
            <a:avLst/>
            <a:gdLst/>
            <a:ahLst/>
            <a:cxnLst/>
            <a:rect r="r" b="b" t="t" l="l"/>
            <a:pathLst>
              <a:path h="11889350" w="11844765">
                <a:moveTo>
                  <a:pt x="0" y="0"/>
                </a:moveTo>
                <a:lnTo>
                  <a:pt x="11844765" y="0"/>
                </a:lnTo>
                <a:lnTo>
                  <a:pt x="11844765" y="11889350"/>
                </a:lnTo>
                <a:lnTo>
                  <a:pt x="0" y="11889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7109" y="6128842"/>
            <a:ext cx="9393208" cy="7467600"/>
          </a:xfrm>
          <a:custGeom>
            <a:avLst/>
            <a:gdLst/>
            <a:ahLst/>
            <a:cxnLst/>
            <a:rect r="r" b="b" t="t" l="l"/>
            <a:pathLst>
              <a:path h="7467600" w="9393208">
                <a:moveTo>
                  <a:pt x="0" y="0"/>
                </a:moveTo>
                <a:lnTo>
                  <a:pt x="9393207" y="0"/>
                </a:lnTo>
                <a:lnTo>
                  <a:pt x="9393207" y="7467600"/>
                </a:lnTo>
                <a:lnTo>
                  <a:pt x="0" y="746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58304" y="3505832"/>
            <a:ext cx="424688" cy="42468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73375" y="3505832"/>
            <a:ext cx="424688" cy="42468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91700" y="3505832"/>
            <a:ext cx="424688" cy="42468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14997" y="3505832"/>
            <a:ext cx="424688" cy="42468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3182992" y="3718176"/>
            <a:ext cx="369038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298063" y="3718176"/>
            <a:ext cx="379363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-1183231" y="3718176"/>
            <a:ext cx="394153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539685" y="3718176"/>
            <a:ext cx="3931546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1516388" y="3718176"/>
            <a:ext cx="359860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-4211302" y="6877881"/>
            <a:ext cx="7910703" cy="8229600"/>
          </a:xfrm>
          <a:custGeom>
            <a:avLst/>
            <a:gdLst/>
            <a:ahLst/>
            <a:cxnLst/>
            <a:rect r="r" b="b" t="t" l="l"/>
            <a:pathLst>
              <a:path h="8229600" w="7910703">
                <a:moveTo>
                  <a:pt x="0" y="0"/>
                </a:moveTo>
                <a:lnTo>
                  <a:pt x="7910703" y="0"/>
                </a:lnTo>
                <a:lnTo>
                  <a:pt x="79107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-6438438" y="8199792"/>
            <a:ext cx="14255043" cy="14308700"/>
          </a:xfrm>
          <a:custGeom>
            <a:avLst/>
            <a:gdLst/>
            <a:ahLst/>
            <a:cxnLst/>
            <a:rect r="r" b="b" t="t" l="l"/>
            <a:pathLst>
              <a:path h="14308700" w="14255043">
                <a:moveTo>
                  <a:pt x="0" y="0"/>
                </a:moveTo>
                <a:lnTo>
                  <a:pt x="14255042" y="0"/>
                </a:lnTo>
                <a:lnTo>
                  <a:pt x="14255042" y="14308700"/>
                </a:lnTo>
                <a:lnTo>
                  <a:pt x="0" y="1430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115550" y="1133475"/>
            <a:ext cx="7116286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Pembagian Kerja </a:t>
            </a:r>
          </a:p>
          <a:p>
            <a:pPr algn="r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&amp; Alur Git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9315" y="4331792"/>
            <a:ext cx="3878990" cy="35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 spc="-111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Darel Ajni Fahrezi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46224" y="4331792"/>
            <a:ext cx="3878990" cy="35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 spc="-111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 Debby Lelyca R Damanik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64549" y="4331792"/>
            <a:ext cx="3878990" cy="35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 spc="-111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Dianne Dini Al-haq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87846" y="4331792"/>
            <a:ext cx="3878990" cy="35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 spc="-111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Yasser A Ramadhan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7796" y="4983937"/>
            <a:ext cx="352202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[KETUA · ARSITEKTUR]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Arsitektur model dan loss, integrasi notebook, generasi dan interpolasi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24705" y="4983937"/>
            <a:ext cx="352202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[DATA · EVALUASI]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Preprocessing, analisis training dan tuning, evaluasi test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43030" y="4983937"/>
            <a:ext cx="352202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[TRAINING · TUNING]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Training loop, grid search, training ulang, checkpoint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66327" y="4983937"/>
            <a:ext cx="352202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[DOKUMENTASI]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Log interaksi LLM, laporan,, rekap kontribusi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260054" y="7481392"/>
            <a:ext cx="3089742" cy="710394"/>
            <a:chOff x="0" y="0"/>
            <a:chExt cx="3175000" cy="7299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75000" cy="729996"/>
            </a:xfrm>
            <a:custGeom>
              <a:avLst/>
              <a:gdLst/>
              <a:ahLst/>
              <a:cxnLst/>
              <a:rect r="r" b="b" t="t" l="l"/>
              <a:pathLst>
                <a:path h="729996" w="3175000">
                  <a:moveTo>
                    <a:pt x="274059" y="0"/>
                  </a:moveTo>
                  <a:lnTo>
                    <a:pt x="2900941" y="0"/>
                  </a:lnTo>
                  <a:cubicBezTo>
                    <a:pt x="3052300" y="0"/>
                    <a:pt x="3175000" y="122701"/>
                    <a:pt x="3175000" y="274059"/>
                  </a:cubicBezTo>
                  <a:lnTo>
                    <a:pt x="3175000" y="455937"/>
                  </a:lnTo>
                  <a:cubicBezTo>
                    <a:pt x="3175000" y="607295"/>
                    <a:pt x="3052300" y="729996"/>
                    <a:pt x="2900941" y="729996"/>
                  </a:cubicBezTo>
                  <a:lnTo>
                    <a:pt x="274059" y="729996"/>
                  </a:lnTo>
                  <a:cubicBezTo>
                    <a:pt x="201374" y="729996"/>
                    <a:pt x="131666" y="701122"/>
                    <a:pt x="80270" y="649726"/>
                  </a:cubicBezTo>
                  <a:cubicBezTo>
                    <a:pt x="28874" y="598330"/>
                    <a:pt x="0" y="528622"/>
                    <a:pt x="0" y="455937"/>
                  </a:cubicBezTo>
                  <a:lnTo>
                    <a:pt x="0" y="274059"/>
                  </a:lnTo>
                  <a:cubicBezTo>
                    <a:pt x="0" y="122701"/>
                    <a:pt x="122701" y="0"/>
                    <a:pt x="274059" y="0"/>
                  </a:cubicBezTo>
                  <a:close/>
                </a:path>
              </a:pathLst>
            </a:custGeom>
            <a:solidFill>
              <a:srgbClr val="EEF1F7"/>
            </a:solidFill>
            <a:ln w="9525" cap="rnd">
              <a:solidFill>
                <a:srgbClr val="124B42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75000" cy="768096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124B42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Branch per tugas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5448668" y="7833623"/>
            <a:ext cx="271897" cy="0"/>
          </a:xfrm>
          <a:prstGeom prst="line">
            <a:avLst/>
          </a:prstGeom>
          <a:ln cap="flat" w="28575">
            <a:solidFill>
              <a:srgbClr val="124B4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6" id="36"/>
          <p:cNvGrpSpPr/>
          <p:nvPr/>
        </p:nvGrpSpPr>
        <p:grpSpPr>
          <a:xfrm rot="0">
            <a:off x="5819437" y="7481392"/>
            <a:ext cx="3089742" cy="710394"/>
            <a:chOff x="0" y="0"/>
            <a:chExt cx="3175000" cy="7299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75000" cy="729996"/>
            </a:xfrm>
            <a:custGeom>
              <a:avLst/>
              <a:gdLst/>
              <a:ahLst/>
              <a:cxnLst/>
              <a:rect r="r" b="b" t="t" l="l"/>
              <a:pathLst>
                <a:path h="729996" w="3175000">
                  <a:moveTo>
                    <a:pt x="274059" y="0"/>
                  </a:moveTo>
                  <a:lnTo>
                    <a:pt x="2900941" y="0"/>
                  </a:lnTo>
                  <a:cubicBezTo>
                    <a:pt x="3052300" y="0"/>
                    <a:pt x="3175000" y="122701"/>
                    <a:pt x="3175000" y="274059"/>
                  </a:cubicBezTo>
                  <a:lnTo>
                    <a:pt x="3175000" y="455937"/>
                  </a:lnTo>
                  <a:cubicBezTo>
                    <a:pt x="3175000" y="607295"/>
                    <a:pt x="3052300" y="729996"/>
                    <a:pt x="2900941" y="729996"/>
                  </a:cubicBezTo>
                  <a:lnTo>
                    <a:pt x="274059" y="729996"/>
                  </a:lnTo>
                  <a:cubicBezTo>
                    <a:pt x="201374" y="729996"/>
                    <a:pt x="131666" y="701122"/>
                    <a:pt x="80270" y="649726"/>
                  </a:cubicBezTo>
                  <a:cubicBezTo>
                    <a:pt x="28874" y="598330"/>
                    <a:pt x="0" y="528622"/>
                    <a:pt x="0" y="455937"/>
                  </a:cubicBezTo>
                  <a:lnTo>
                    <a:pt x="0" y="274059"/>
                  </a:lnTo>
                  <a:cubicBezTo>
                    <a:pt x="0" y="122701"/>
                    <a:pt x="122701" y="0"/>
                    <a:pt x="274059" y="0"/>
                  </a:cubicBezTo>
                  <a:close/>
                </a:path>
              </a:pathLst>
            </a:custGeom>
            <a:solidFill>
              <a:srgbClr val="EEF1F7"/>
            </a:solidFill>
            <a:ln w="9525" cap="rnd">
              <a:solidFill>
                <a:srgbClr val="124B42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175000" cy="768096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124B42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Commit bertahap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9008051" y="7833623"/>
            <a:ext cx="271897" cy="0"/>
          </a:xfrm>
          <a:prstGeom prst="line">
            <a:avLst/>
          </a:prstGeom>
          <a:ln cap="flat" w="28575">
            <a:solidFill>
              <a:srgbClr val="124B4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0" id="40"/>
          <p:cNvGrpSpPr/>
          <p:nvPr/>
        </p:nvGrpSpPr>
        <p:grpSpPr>
          <a:xfrm rot="0">
            <a:off x="9378820" y="7481392"/>
            <a:ext cx="3089742" cy="710394"/>
            <a:chOff x="0" y="0"/>
            <a:chExt cx="3175000" cy="7299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75000" cy="729996"/>
            </a:xfrm>
            <a:custGeom>
              <a:avLst/>
              <a:gdLst/>
              <a:ahLst/>
              <a:cxnLst/>
              <a:rect r="r" b="b" t="t" l="l"/>
              <a:pathLst>
                <a:path h="729996" w="3175000">
                  <a:moveTo>
                    <a:pt x="274059" y="0"/>
                  </a:moveTo>
                  <a:lnTo>
                    <a:pt x="2900941" y="0"/>
                  </a:lnTo>
                  <a:cubicBezTo>
                    <a:pt x="3052300" y="0"/>
                    <a:pt x="3175000" y="122701"/>
                    <a:pt x="3175000" y="274059"/>
                  </a:cubicBezTo>
                  <a:lnTo>
                    <a:pt x="3175000" y="455937"/>
                  </a:lnTo>
                  <a:cubicBezTo>
                    <a:pt x="3175000" y="607295"/>
                    <a:pt x="3052300" y="729996"/>
                    <a:pt x="2900941" y="729996"/>
                  </a:cubicBezTo>
                  <a:lnTo>
                    <a:pt x="274059" y="729996"/>
                  </a:lnTo>
                  <a:cubicBezTo>
                    <a:pt x="201374" y="729996"/>
                    <a:pt x="131666" y="701122"/>
                    <a:pt x="80270" y="649726"/>
                  </a:cubicBezTo>
                  <a:cubicBezTo>
                    <a:pt x="28874" y="598330"/>
                    <a:pt x="0" y="528622"/>
                    <a:pt x="0" y="455937"/>
                  </a:cubicBezTo>
                  <a:lnTo>
                    <a:pt x="0" y="274059"/>
                  </a:lnTo>
                  <a:cubicBezTo>
                    <a:pt x="0" y="122701"/>
                    <a:pt x="122701" y="0"/>
                    <a:pt x="274059" y="0"/>
                  </a:cubicBezTo>
                  <a:close/>
                </a:path>
              </a:pathLst>
            </a:custGeom>
            <a:solidFill>
              <a:srgbClr val="EEF1F7"/>
            </a:solidFill>
            <a:ln w="9525" cap="rnd">
              <a:solidFill>
                <a:srgbClr val="124B42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175000" cy="768096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124B42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Pull Request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12567435" y="7833623"/>
            <a:ext cx="271897" cy="0"/>
          </a:xfrm>
          <a:prstGeom prst="line">
            <a:avLst/>
          </a:prstGeom>
          <a:ln cap="flat" w="28575">
            <a:solidFill>
              <a:srgbClr val="124B4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4" id="44"/>
          <p:cNvGrpSpPr/>
          <p:nvPr/>
        </p:nvGrpSpPr>
        <p:grpSpPr>
          <a:xfrm rot="0">
            <a:off x="12938204" y="7481392"/>
            <a:ext cx="3089742" cy="710394"/>
            <a:chOff x="0" y="0"/>
            <a:chExt cx="3175000" cy="7299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75000" cy="729996"/>
            </a:xfrm>
            <a:custGeom>
              <a:avLst/>
              <a:gdLst/>
              <a:ahLst/>
              <a:cxnLst/>
              <a:rect r="r" b="b" t="t" l="l"/>
              <a:pathLst>
                <a:path h="729996" w="3175000">
                  <a:moveTo>
                    <a:pt x="274059" y="0"/>
                  </a:moveTo>
                  <a:lnTo>
                    <a:pt x="2900941" y="0"/>
                  </a:lnTo>
                  <a:cubicBezTo>
                    <a:pt x="3052300" y="0"/>
                    <a:pt x="3175000" y="122701"/>
                    <a:pt x="3175000" y="274059"/>
                  </a:cubicBezTo>
                  <a:lnTo>
                    <a:pt x="3175000" y="455937"/>
                  </a:lnTo>
                  <a:cubicBezTo>
                    <a:pt x="3175000" y="607295"/>
                    <a:pt x="3052300" y="729996"/>
                    <a:pt x="2900941" y="729996"/>
                  </a:cubicBezTo>
                  <a:lnTo>
                    <a:pt x="274059" y="729996"/>
                  </a:lnTo>
                  <a:cubicBezTo>
                    <a:pt x="201374" y="729996"/>
                    <a:pt x="131666" y="701122"/>
                    <a:pt x="80270" y="649726"/>
                  </a:cubicBezTo>
                  <a:cubicBezTo>
                    <a:pt x="28874" y="598330"/>
                    <a:pt x="0" y="528622"/>
                    <a:pt x="0" y="455937"/>
                  </a:cubicBezTo>
                  <a:lnTo>
                    <a:pt x="0" y="274059"/>
                  </a:lnTo>
                  <a:cubicBezTo>
                    <a:pt x="0" y="122701"/>
                    <a:pt x="122701" y="0"/>
                    <a:pt x="274059" y="0"/>
                  </a:cubicBezTo>
                  <a:close/>
                </a:path>
              </a:pathLst>
            </a:custGeom>
            <a:solidFill>
              <a:srgbClr val="124B42"/>
            </a:solidFill>
            <a:ln w="9525" cap="rnd">
              <a:solidFill>
                <a:srgbClr val="124B42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175000" cy="768096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Review dan merge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953001">
            <a:off x="13099335" y="2228007"/>
            <a:ext cx="10831652" cy="14837879"/>
          </a:xfrm>
          <a:custGeom>
            <a:avLst/>
            <a:gdLst/>
            <a:ahLst/>
            <a:cxnLst/>
            <a:rect r="r" b="b" t="t" l="l"/>
            <a:pathLst>
              <a:path h="14837879" w="10831652">
                <a:moveTo>
                  <a:pt x="0" y="0"/>
                </a:moveTo>
                <a:lnTo>
                  <a:pt x="10831652" y="0"/>
                </a:lnTo>
                <a:lnTo>
                  <a:pt x="10831652" y="14837879"/>
                </a:lnTo>
                <a:lnTo>
                  <a:pt x="0" y="14837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873633">
            <a:off x="-1502759" y="-4407295"/>
            <a:ext cx="12753998" cy="12541613"/>
          </a:xfrm>
          <a:custGeom>
            <a:avLst/>
            <a:gdLst/>
            <a:ahLst/>
            <a:cxnLst/>
            <a:rect r="r" b="b" t="t" l="l"/>
            <a:pathLst>
              <a:path h="12541613" w="12753998">
                <a:moveTo>
                  <a:pt x="0" y="0"/>
                </a:moveTo>
                <a:lnTo>
                  <a:pt x="12753998" y="0"/>
                </a:lnTo>
                <a:lnTo>
                  <a:pt x="12753998" y="12541613"/>
                </a:lnTo>
                <a:lnTo>
                  <a:pt x="0" y="12541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549114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9730" y="1511087"/>
            <a:ext cx="569643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Log Interaksi LLM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030" y="3886617"/>
            <a:ext cx="6079910" cy="3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8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Tanggal, target modul, tautan chat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030" y="4749456"/>
            <a:ext cx="6079910" cy="3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8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Inisiasi: prompt, alasan, output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030" y="5612294"/>
            <a:ext cx="5362137" cy="70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8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Debugging: error asli, prompt perbaikan, solusi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74759"/>
            <a:ext cx="549413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Format log untuk setiap modul: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03505" y="3022384"/>
            <a:ext cx="6682674" cy="5264594"/>
            <a:chOff x="0" y="0"/>
            <a:chExt cx="6076773" cy="4787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76773" cy="4787267"/>
            </a:xfrm>
            <a:custGeom>
              <a:avLst/>
              <a:gdLst/>
              <a:ahLst/>
              <a:cxnLst/>
              <a:rect r="r" b="b" t="t" l="l"/>
              <a:pathLst>
                <a:path h="4787267" w="6076773">
                  <a:moveTo>
                    <a:pt x="51590" y="0"/>
                  </a:moveTo>
                  <a:lnTo>
                    <a:pt x="6025183" y="0"/>
                  </a:lnTo>
                  <a:cubicBezTo>
                    <a:pt x="6053676" y="0"/>
                    <a:pt x="6076773" y="23098"/>
                    <a:pt x="6076773" y="51590"/>
                  </a:cubicBezTo>
                  <a:lnTo>
                    <a:pt x="6076773" y="4735677"/>
                  </a:lnTo>
                  <a:cubicBezTo>
                    <a:pt x="6076773" y="4749359"/>
                    <a:pt x="6071338" y="4762481"/>
                    <a:pt x="6061663" y="4772156"/>
                  </a:cubicBezTo>
                  <a:cubicBezTo>
                    <a:pt x="6051988" y="4781831"/>
                    <a:pt x="6038866" y="4787267"/>
                    <a:pt x="6025183" y="4787267"/>
                  </a:cubicBezTo>
                  <a:lnTo>
                    <a:pt x="51590" y="4787267"/>
                  </a:lnTo>
                  <a:cubicBezTo>
                    <a:pt x="23098" y="4787267"/>
                    <a:pt x="0" y="4764169"/>
                    <a:pt x="0" y="4735677"/>
                  </a:cubicBezTo>
                  <a:lnTo>
                    <a:pt x="0" y="51590"/>
                  </a:lnTo>
                  <a:cubicBezTo>
                    <a:pt x="0" y="37907"/>
                    <a:pt x="5435" y="24785"/>
                    <a:pt x="15110" y="15110"/>
                  </a:cubicBezTo>
                  <a:cubicBezTo>
                    <a:pt x="24785" y="5435"/>
                    <a:pt x="37907" y="0"/>
                    <a:pt x="51590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3030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076773" cy="4815842"/>
            </a:xfrm>
            <a:prstGeom prst="rect">
              <a:avLst/>
            </a:prstGeom>
          </p:spPr>
          <p:txBody>
            <a:bodyPr anchor="ctr" rtlCol="false" tIns="393700" lIns="393700" bIns="393700" rIns="393700"/>
            <a:lstStyle/>
            <a:p>
              <a:pPr algn="l">
                <a:lnSpc>
                  <a:spcPts val="2991"/>
                </a:lnSpc>
              </a:pPr>
              <a:r>
                <a:rPr lang="en-US" sz="2199" b="true">
                  <a:solidFill>
                    <a:srgbClr val="124B42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CONTOH ENTRI · MODUL ANALISIS DAN EVALUASI</a:t>
              </a:r>
            </a:p>
            <a:p>
              <a:pPr algn="l">
                <a:lnSpc>
                  <a:spcPts val="2991"/>
                </a:lnSpc>
              </a:pPr>
            </a:p>
            <a:p>
              <a:pPr algn="l">
                <a:lnSpc>
                  <a:spcPts val="3399"/>
                </a:lnSpc>
              </a:pPr>
              <a:r>
                <a:rPr lang="en-US" sz="2499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I</a:t>
              </a:r>
              <a:r>
                <a:rPr lang="en-US" sz="2499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nisiasi</a:t>
              </a:r>
              <a:r>
                <a:rPr lang="en-US" sz="24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: meminta pemetaan langkah sesuai brief ketua, dari grafik training sampai evaluasi test</a:t>
              </a:r>
            </a:p>
            <a:p>
              <a:pPr algn="l">
                <a:lnSpc>
                  <a:spcPts val="3399"/>
                </a:lnSpc>
              </a:pPr>
              <a:r>
                <a:rPr lang="en-US" sz="2499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Debugging:</a:t>
              </a:r>
              <a:r>
                <a:rPr lang="en-US" sz="24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NameError saat sel dijalankan sendiri → sel dibuat membaca file hasil</a:t>
              </a:r>
            </a:p>
            <a:p>
              <a:pPr algn="l">
                <a:lnSpc>
                  <a:spcPts val="3399"/>
                </a:lnSpc>
              </a:pPr>
              <a:r>
                <a:rPr lang="en-US" sz="2499" b="true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Optimasi:</a:t>
              </a:r>
              <a:r>
                <a:rPr lang="en-US" sz="2499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mencocokkan angka dan interpretasi dengan output notebook sebelum commit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34030" y="6818032"/>
            <a:ext cx="5362137" cy="3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80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Optimasi dan verifikasi hasil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057275" y="3748660"/>
            <a:ext cx="0" cy="567253"/>
          </a:xfrm>
          <a:prstGeom prst="line">
            <a:avLst/>
          </a:prstGeom>
          <a:ln cap="flat" w="571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57275" y="4611498"/>
            <a:ext cx="0" cy="567253"/>
          </a:xfrm>
          <a:prstGeom prst="line">
            <a:avLst/>
          </a:prstGeom>
          <a:ln cap="flat" w="571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57275" y="5645786"/>
            <a:ext cx="0" cy="567253"/>
          </a:xfrm>
          <a:prstGeom prst="line">
            <a:avLst/>
          </a:prstGeom>
          <a:ln cap="flat" w="571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85850" y="6679764"/>
            <a:ext cx="0" cy="567253"/>
          </a:xfrm>
          <a:prstGeom prst="line">
            <a:avLst/>
          </a:prstGeom>
          <a:ln cap="flat" w="571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377" y="2777714"/>
            <a:ext cx="18288000" cy="4514366"/>
          </a:xfrm>
          <a:custGeom>
            <a:avLst/>
            <a:gdLst/>
            <a:ahLst/>
            <a:cxnLst/>
            <a:rect r="r" b="b" t="t" l="l"/>
            <a:pathLst>
              <a:path h="4514366" w="18288000">
                <a:moveTo>
                  <a:pt x="0" y="0"/>
                </a:moveTo>
                <a:lnTo>
                  <a:pt x="18288000" y="0"/>
                </a:lnTo>
                <a:lnTo>
                  <a:pt x="18288000" y="4514366"/>
                </a:lnTo>
                <a:lnTo>
                  <a:pt x="0" y="4514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355" r="0" b="-8057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438438" y="8199792"/>
            <a:ext cx="14255043" cy="14308700"/>
          </a:xfrm>
          <a:custGeom>
            <a:avLst/>
            <a:gdLst/>
            <a:ahLst/>
            <a:cxnLst/>
            <a:rect r="r" b="b" t="t" l="l"/>
            <a:pathLst>
              <a:path h="14308700" w="14255043">
                <a:moveTo>
                  <a:pt x="0" y="0"/>
                </a:moveTo>
                <a:lnTo>
                  <a:pt x="14255042" y="0"/>
                </a:lnTo>
                <a:lnTo>
                  <a:pt x="14255042" y="14308700"/>
                </a:lnTo>
                <a:lnTo>
                  <a:pt x="0" y="1430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549114"/>
            <a:ext cx="1465813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9730" y="1511087"/>
            <a:ext cx="569643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Debugging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1949" y="-5006583"/>
            <a:ext cx="10483567" cy="8229600"/>
          </a:xfrm>
          <a:custGeom>
            <a:avLst/>
            <a:gdLst/>
            <a:ahLst/>
            <a:cxnLst/>
            <a:rect r="r" b="b" t="t" l="l"/>
            <a:pathLst>
              <a:path h="8229600" w="10483567">
                <a:moveTo>
                  <a:pt x="0" y="0"/>
                </a:moveTo>
                <a:lnTo>
                  <a:pt x="10483567" y="0"/>
                </a:lnTo>
                <a:lnTo>
                  <a:pt x="104835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52793" y="1332573"/>
            <a:ext cx="7606507" cy="3319869"/>
            <a:chOff x="0" y="0"/>
            <a:chExt cx="1939098" cy="8463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9098" cy="846328"/>
            </a:xfrm>
            <a:custGeom>
              <a:avLst/>
              <a:gdLst/>
              <a:ahLst/>
              <a:cxnLst/>
              <a:rect r="r" b="b" t="t" l="l"/>
              <a:pathLst>
                <a:path h="846328" w="1939098">
                  <a:moveTo>
                    <a:pt x="1843500" y="0"/>
                  </a:moveTo>
                  <a:lnTo>
                    <a:pt x="95598" y="0"/>
                  </a:lnTo>
                  <a:cubicBezTo>
                    <a:pt x="42801" y="0"/>
                    <a:pt x="0" y="42801"/>
                    <a:pt x="0" y="95598"/>
                  </a:cubicBezTo>
                  <a:lnTo>
                    <a:pt x="0" y="548408"/>
                  </a:lnTo>
                  <a:cubicBezTo>
                    <a:pt x="0" y="601205"/>
                    <a:pt x="42801" y="644006"/>
                    <a:pt x="95598" y="644006"/>
                  </a:cubicBezTo>
                  <a:lnTo>
                    <a:pt x="204343" y="644006"/>
                  </a:lnTo>
                  <a:cubicBezTo>
                    <a:pt x="231994" y="644005"/>
                    <a:pt x="258291" y="655978"/>
                    <a:pt x="276447" y="676833"/>
                  </a:cubicBezTo>
                  <a:lnTo>
                    <a:pt x="395420" y="813493"/>
                  </a:lnTo>
                  <a:cubicBezTo>
                    <a:pt x="413574" y="834352"/>
                    <a:pt x="439871" y="846327"/>
                    <a:pt x="467524" y="846328"/>
                  </a:cubicBezTo>
                  <a:lnTo>
                    <a:pt x="1471574" y="846328"/>
                  </a:lnTo>
                  <a:cubicBezTo>
                    <a:pt x="1499226" y="846328"/>
                    <a:pt x="1525523" y="834356"/>
                    <a:pt x="1543679" y="813500"/>
                  </a:cubicBezTo>
                  <a:lnTo>
                    <a:pt x="1662650" y="676840"/>
                  </a:lnTo>
                  <a:cubicBezTo>
                    <a:pt x="1680806" y="655984"/>
                    <a:pt x="1707103" y="644012"/>
                    <a:pt x="1734754" y="644012"/>
                  </a:cubicBezTo>
                  <a:lnTo>
                    <a:pt x="1843500" y="644012"/>
                  </a:lnTo>
                  <a:cubicBezTo>
                    <a:pt x="1896298" y="644012"/>
                    <a:pt x="1939098" y="601211"/>
                    <a:pt x="1939098" y="548414"/>
                  </a:cubicBezTo>
                  <a:lnTo>
                    <a:pt x="1939098" y="95598"/>
                  </a:lnTo>
                  <a:cubicBezTo>
                    <a:pt x="1939098" y="42801"/>
                    <a:pt x="1896298" y="0"/>
                    <a:pt x="18435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7900" r="0" b="-2790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262042"/>
            <a:ext cx="473139" cy="430557"/>
          </a:xfrm>
          <a:custGeom>
            <a:avLst/>
            <a:gdLst/>
            <a:ahLst/>
            <a:cxnLst/>
            <a:rect r="r" b="b" t="t" l="l"/>
            <a:pathLst>
              <a:path h="430557" w="473139">
                <a:moveTo>
                  <a:pt x="0" y="0"/>
                </a:moveTo>
                <a:lnTo>
                  <a:pt x="473139" y="0"/>
                </a:lnTo>
                <a:lnTo>
                  <a:pt x="473139" y="430557"/>
                </a:lnTo>
                <a:lnTo>
                  <a:pt x="0" y="43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55341" y="6440804"/>
            <a:ext cx="457033" cy="457033"/>
          </a:xfrm>
          <a:custGeom>
            <a:avLst/>
            <a:gdLst/>
            <a:ahLst/>
            <a:cxnLst/>
            <a:rect r="r" b="b" t="t" l="l"/>
            <a:pathLst>
              <a:path h="457033" w="457033">
                <a:moveTo>
                  <a:pt x="0" y="0"/>
                </a:moveTo>
                <a:lnTo>
                  <a:pt x="457033" y="0"/>
                </a:lnTo>
                <a:lnTo>
                  <a:pt x="457033" y="457033"/>
                </a:lnTo>
                <a:lnTo>
                  <a:pt x="0" y="4570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61264" y="7059382"/>
            <a:ext cx="457033" cy="457033"/>
          </a:xfrm>
          <a:custGeom>
            <a:avLst/>
            <a:gdLst/>
            <a:ahLst/>
            <a:cxnLst/>
            <a:rect r="r" b="b" t="t" l="l"/>
            <a:pathLst>
              <a:path h="457033" w="457033">
                <a:moveTo>
                  <a:pt x="0" y="0"/>
                </a:moveTo>
                <a:lnTo>
                  <a:pt x="457033" y="0"/>
                </a:lnTo>
                <a:lnTo>
                  <a:pt x="457033" y="457033"/>
                </a:lnTo>
                <a:lnTo>
                  <a:pt x="0" y="4570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61264" y="7677961"/>
            <a:ext cx="451110" cy="451110"/>
          </a:xfrm>
          <a:custGeom>
            <a:avLst/>
            <a:gdLst/>
            <a:ahLst/>
            <a:cxnLst/>
            <a:rect r="r" b="b" t="t" l="l"/>
            <a:pathLst>
              <a:path h="451110" w="451110">
                <a:moveTo>
                  <a:pt x="0" y="0"/>
                </a:moveTo>
                <a:lnTo>
                  <a:pt x="451110" y="0"/>
                </a:lnTo>
                <a:lnTo>
                  <a:pt x="451110" y="451110"/>
                </a:lnTo>
                <a:lnTo>
                  <a:pt x="0" y="451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4899896"/>
            <a:ext cx="473139" cy="430557"/>
          </a:xfrm>
          <a:custGeom>
            <a:avLst/>
            <a:gdLst/>
            <a:ahLst/>
            <a:cxnLst/>
            <a:rect r="r" b="b" t="t" l="l"/>
            <a:pathLst>
              <a:path h="430557" w="473139">
                <a:moveTo>
                  <a:pt x="0" y="0"/>
                </a:moveTo>
                <a:lnTo>
                  <a:pt x="473139" y="0"/>
                </a:lnTo>
                <a:lnTo>
                  <a:pt x="473139" y="430557"/>
                </a:lnTo>
                <a:lnTo>
                  <a:pt x="0" y="43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5540003"/>
            <a:ext cx="473139" cy="430557"/>
          </a:xfrm>
          <a:custGeom>
            <a:avLst/>
            <a:gdLst/>
            <a:ahLst/>
            <a:cxnLst/>
            <a:rect r="r" b="b" t="t" l="l"/>
            <a:pathLst>
              <a:path h="430557" w="473139">
                <a:moveTo>
                  <a:pt x="0" y="0"/>
                </a:moveTo>
                <a:lnTo>
                  <a:pt x="473139" y="0"/>
                </a:lnTo>
                <a:lnTo>
                  <a:pt x="473139" y="430557"/>
                </a:lnTo>
                <a:lnTo>
                  <a:pt x="0" y="43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6180110"/>
            <a:ext cx="473139" cy="430557"/>
          </a:xfrm>
          <a:custGeom>
            <a:avLst/>
            <a:gdLst/>
            <a:ahLst/>
            <a:cxnLst/>
            <a:rect r="r" b="b" t="t" l="l"/>
            <a:pathLst>
              <a:path h="430557" w="473139">
                <a:moveTo>
                  <a:pt x="0" y="0"/>
                </a:moveTo>
                <a:lnTo>
                  <a:pt x="473139" y="0"/>
                </a:lnTo>
                <a:lnTo>
                  <a:pt x="473139" y="430557"/>
                </a:lnTo>
                <a:lnTo>
                  <a:pt x="0" y="43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3119042"/>
            <a:ext cx="7403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240" b="true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Kesimpulan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55341" y="5316854"/>
            <a:ext cx="74039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b="true" sz="6000" spc="-24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Keterbatasan &amp; Saran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12398" y="6421754"/>
            <a:ext cx="70553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Ga</a:t>
            </a: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mbar masih sedikit kabur, disarankan decoder konvolusional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2398" y="7040332"/>
            <a:ext cx="727137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Se</a:t>
            </a: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bagian sampel acak kurang wajar, disarankan eksperimen nilai 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12398" y="7655949"/>
            <a:ext cx="705533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GS_067</a:t>
            </a: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 masih membaik di epoch 50, disarankan training lebih lama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165" y="4288408"/>
            <a:ext cx="70553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VAE </a:t>
            </a: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berhasil dibangun dari nol dan berjalan dari checkpoint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165" y="4926262"/>
            <a:ext cx="70553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GS_067 m</a:t>
            </a: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enurunkan test loss 34,3% dibanding baseline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165" y="5566369"/>
            <a:ext cx="70553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Lat</a:t>
            </a: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ent dimension adalah faktor paling berpengaruh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165" y="6206476"/>
            <a:ext cx="70553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Rekonstruksi, gen</a:t>
            </a:r>
            <a:r>
              <a:rPr lang="en-US" sz="2000">
                <a:solidFill>
                  <a:srgbClr val="30303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erasi, dan interpolasi GS_067 lebih baik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2326" y="-5551287"/>
            <a:ext cx="11121081" cy="8229600"/>
          </a:xfrm>
          <a:custGeom>
            <a:avLst/>
            <a:gdLst/>
            <a:ahLst/>
            <a:cxnLst/>
            <a:rect r="r" b="b" t="t" l="l"/>
            <a:pathLst>
              <a:path h="8229600" w="11121081">
                <a:moveTo>
                  <a:pt x="0" y="0"/>
                </a:moveTo>
                <a:lnTo>
                  <a:pt x="11121081" y="0"/>
                </a:lnTo>
                <a:lnTo>
                  <a:pt x="1112108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2862" y="3354194"/>
            <a:ext cx="909619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00"/>
              </a:lnSpc>
            </a:pPr>
            <a:r>
              <a:rPr lang="en-US" b="true" sz="12000" spc="-480">
                <a:solidFill>
                  <a:srgbClr val="30303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Thank You!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069076" y="5222664"/>
            <a:ext cx="6859984" cy="1206536"/>
            <a:chOff x="0" y="0"/>
            <a:chExt cx="9146646" cy="160871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9146646" cy="499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16"/>
                </a:lnSpc>
              </a:pPr>
              <a:r>
                <a:rPr lang="en-US" b="true" sz="2800">
                  <a:solidFill>
                    <a:srgbClr val="30303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KAMI SIAP MENJAWAB PERTANYAAN.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93374"/>
              <a:ext cx="9146646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Kod</a:t>
              </a: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e dan hasil eksperimen: </a:t>
              </a:r>
            </a:p>
            <a:p>
              <a:pPr algn="r">
                <a:lnSpc>
                  <a:spcPts val="2520"/>
                </a:lnSpc>
              </a:pPr>
              <a:r>
                <a:rPr lang="en-US" sz="1800">
                  <a:solidFill>
                    <a:srgbClr val="30303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https://github.com/AI-IF-TelU/Proyek1-GenAI-VAE-Telertubbies.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4036237" y="2382642"/>
            <a:ext cx="15644140" cy="10970453"/>
          </a:xfrm>
          <a:custGeom>
            <a:avLst/>
            <a:gdLst/>
            <a:ahLst/>
            <a:cxnLst/>
            <a:rect r="r" b="b" t="t" l="l"/>
            <a:pathLst>
              <a:path h="10970453" w="15644140">
                <a:moveTo>
                  <a:pt x="0" y="0"/>
                </a:moveTo>
                <a:lnTo>
                  <a:pt x="15644140" y="0"/>
                </a:lnTo>
                <a:lnTo>
                  <a:pt x="15644140" y="10970453"/>
                </a:lnTo>
                <a:lnTo>
                  <a:pt x="0" y="10970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DAHZTlqUvgo</dc:identifier>
  <dcterms:modified xsi:type="dcterms:W3CDTF">2011-08-01T06:04:30Z</dcterms:modified>
  <cp:revision>1</cp:revision>
  <dc:title>White 3D Glass Pitch Deck Presentation</dc:title>
</cp:coreProperties>
</file>